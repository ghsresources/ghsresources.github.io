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1"/>
  </p:sldMasterIdLst>
  <p:sldIdLst>
    <p:sldId id="258" r:id="rId2"/>
    <p:sldId id="259" r:id="rId3"/>
    <p:sldId id="260" r:id="rId4"/>
    <p:sldId id="292" r:id="rId5"/>
    <p:sldId id="293" r:id="rId6"/>
    <p:sldId id="261" r:id="rId7"/>
    <p:sldId id="279" r:id="rId8"/>
    <p:sldId id="262" r:id="rId9"/>
    <p:sldId id="263" r:id="rId10"/>
    <p:sldId id="280" r:id="rId11"/>
    <p:sldId id="264" r:id="rId12"/>
    <p:sldId id="265" r:id="rId13"/>
    <p:sldId id="266" r:id="rId14"/>
    <p:sldId id="267" r:id="rId15"/>
    <p:sldId id="268" r:id="rId16"/>
    <p:sldId id="269" r:id="rId17"/>
    <p:sldId id="272" r:id="rId18"/>
    <p:sldId id="271" r:id="rId19"/>
    <p:sldId id="273" r:id="rId20"/>
    <p:sldId id="274" r:id="rId21"/>
    <p:sldId id="275" r:id="rId22"/>
    <p:sldId id="276" r:id="rId23"/>
    <p:sldId id="278" r:id="rId24"/>
    <p:sldId id="281" r:id="rId25"/>
    <p:sldId id="282" r:id="rId26"/>
    <p:sldId id="283" r:id="rId27"/>
    <p:sldId id="288" r:id="rId28"/>
    <p:sldId id="284" r:id="rId29"/>
    <p:sldId id="285" r:id="rId30"/>
    <p:sldId id="286" r:id="rId31"/>
    <p:sldId id="287" r:id="rId32"/>
    <p:sldId id="289" r:id="rId33"/>
    <p:sldId id="290" r:id="rId34"/>
    <p:sldId id="291" r:id="rId35"/>
  </p:sldIdLst>
  <p:sldSz cx="9144000" cy="5143500" type="screen16x9"/>
  <p:notesSz cx="6858000" cy="9144000"/>
  <p:embeddedFontLst>
    <p:embeddedFont>
      <p:font typeface="Century Gothic" panose="020B0502020202020204" pitchFamily="34" charset="0"/>
      <p:regular r:id="rId36"/>
      <p:bold r:id="rId37"/>
      <p:italic r:id="rId38"/>
      <p:boldItalic r:id="rId39"/>
    </p:embeddedFont>
    <p:embeddedFont>
      <p:font typeface="Trebuchet MS" panose="020B0603020202020204" pitchFamily="34" charset="0"/>
      <p:regular r:id="rId40"/>
      <p:bold r:id="rId41"/>
      <p:italic r:id="rId42"/>
      <p:boldItalic r:id="rId43"/>
    </p:embeddedFont>
    <p:embeddedFont>
      <p:font typeface="Wingdings 3" panose="05040102010807070707" pitchFamily="18" charset="2"/>
      <p:regular r:id="rId4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3" d="100"/>
          <a:sy n="93" d="100"/>
        </p:scale>
        <p:origin x="520" y="56"/>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7.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8.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6.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216" y="1085850"/>
            <a:ext cx="6619244" cy="2497186"/>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66216" y="3583035"/>
            <a:ext cx="6619244" cy="646065"/>
          </a:xfrm>
        </p:spPr>
        <p:txBody>
          <a:bodyPr anchor="t"/>
          <a:lstStyle>
            <a:lvl1pPr marL="0" indent="0" algn="l">
              <a:buNone/>
              <a:defRPr cap="all">
                <a:solidFill>
                  <a:schemeClr val="bg2">
                    <a:lumMod val="40000"/>
                    <a:lumOff val="6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3CEEA36-5FA8-4C13-8309-AD7706FEC9F1}" type="datetimeFigureOut">
              <a:rPr lang="en-US" smtClean="0"/>
              <a:pPr/>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063A00-573F-4298-BF14-96197D544E66}" type="slidenum">
              <a:rPr lang="en-US" smtClean="0"/>
              <a:pPr/>
              <a:t>‹#›</a:t>
            </a:fld>
            <a:endParaRPr lang="en-US"/>
          </a:p>
        </p:txBody>
      </p:sp>
    </p:spTree>
    <p:extLst>
      <p:ext uri="{BB962C8B-B14F-4D97-AF65-F5344CB8AC3E}">
        <p14:creationId xmlns:p14="http://schemas.microsoft.com/office/powerpoint/2010/main" val="3553631032"/>
      </p:ext>
    </p:extLst>
  </p:cSld>
  <p:clrMapOvr>
    <a:masterClrMapping/>
  </p:clrMapOvr>
  <p:transition spd="med">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C3CEEA36-5FA8-4C13-8309-AD7706FEC9F1}" type="datetimeFigureOut">
              <a:rPr lang="en-US" smtClean="0"/>
              <a:pPr/>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063A00-573F-4298-BF14-96197D544E66}" type="slidenum">
              <a:rPr lang="en-US" smtClean="0"/>
              <a:pPr/>
              <a:t>‹#›</a:t>
            </a:fld>
            <a:endParaRPr lang="en-US"/>
          </a:p>
        </p:txBody>
      </p:sp>
    </p:spTree>
    <p:extLst>
      <p:ext uri="{BB962C8B-B14F-4D97-AF65-F5344CB8AC3E}">
        <p14:creationId xmlns:p14="http://schemas.microsoft.com/office/powerpoint/2010/main" val="2166234264"/>
      </p:ext>
    </p:extLst>
  </p:cSld>
  <p:clrMapOvr>
    <a:masterClrMapping/>
  </p:clrMapOvr>
  <p:transition spd="med">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217" y="2146300"/>
            <a:ext cx="6619243" cy="1436735"/>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all">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CEEA36-5FA8-4C13-8309-AD7706FEC9F1}" type="datetimeFigureOut">
              <a:rPr lang="en-US" smtClean="0"/>
              <a:pPr/>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063A00-573F-4298-BF14-96197D544E66}" type="slidenum">
              <a:rPr lang="en-US" smtClean="0"/>
              <a:pPr/>
              <a:t>‹#›</a:t>
            </a:fld>
            <a:endParaRPr lang="en-US"/>
          </a:p>
        </p:txBody>
      </p:sp>
    </p:spTree>
    <p:extLst>
      <p:ext uri="{BB962C8B-B14F-4D97-AF65-F5344CB8AC3E}">
        <p14:creationId xmlns:p14="http://schemas.microsoft.com/office/powerpoint/2010/main" val="1476936927"/>
      </p:ext>
    </p:extLst>
  </p:cSld>
  <p:clrMapOvr>
    <a:masterClrMapping/>
  </p:clrMapOvr>
  <p:transition spd="med">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485" y="1545432"/>
            <a:ext cx="3297254" cy="3146822"/>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0870" y="1542069"/>
            <a:ext cx="3297256" cy="315018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3CEEA36-5FA8-4C13-8309-AD7706FEC9F1}" type="datetimeFigureOut">
              <a:rPr lang="en-US" smtClean="0"/>
              <a:pPr/>
              <a:t>9/13/2026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063A00-573F-4298-BF14-96197D544E66}" type="slidenum">
              <a:rPr lang="en-US" smtClean="0"/>
              <a:pPr/>
              <a:t>‹#›</a:t>
            </a:fld>
            <a:endParaRPr lang="en-US"/>
          </a:p>
        </p:txBody>
      </p:sp>
    </p:spTree>
    <p:extLst>
      <p:ext uri="{BB962C8B-B14F-4D97-AF65-F5344CB8AC3E}">
        <p14:creationId xmlns:p14="http://schemas.microsoft.com/office/powerpoint/2010/main" val="2075460376"/>
      </p:ext>
    </p:extLst>
  </p:cSld>
  <p:clrMapOvr>
    <a:masterClrMapping/>
  </p:clrMapOvr>
  <p:transition spd="med">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485" y="1428750"/>
            <a:ext cx="329725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27485"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0872" y="1428750"/>
            <a:ext cx="329725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240872"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3CEEA36-5FA8-4C13-8309-AD7706FEC9F1}" type="datetimeFigureOut">
              <a:rPr lang="en-US" smtClean="0"/>
              <a:pPr/>
              <a:t>9/13/2026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063A00-573F-4298-BF14-96197D544E66}" type="slidenum">
              <a:rPr lang="en-US" smtClean="0"/>
              <a:pPr/>
              <a:t>‹#›</a:t>
            </a:fld>
            <a:endParaRPr lang="en-US"/>
          </a:p>
        </p:txBody>
      </p:sp>
    </p:spTree>
    <p:extLst>
      <p:ext uri="{BB962C8B-B14F-4D97-AF65-F5344CB8AC3E}">
        <p14:creationId xmlns:p14="http://schemas.microsoft.com/office/powerpoint/2010/main" val="90830532"/>
      </p:ext>
    </p:extLst>
  </p:cSld>
  <p:clrMapOvr>
    <a:masterClrMapping/>
  </p:clrMapOvr>
  <p:transition spd="med">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C3CEEA36-5FA8-4C13-8309-AD7706FEC9F1}" type="datetimeFigureOut">
              <a:rPr lang="en-US" smtClean="0"/>
              <a:pPr/>
              <a:t>9/13/2026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BD063A00-573F-4298-BF14-96197D544E66}" type="slidenum">
              <a:rPr lang="en-US" smtClean="0"/>
              <a:pPr/>
              <a:t>‹#›</a:t>
            </a:fld>
            <a:endParaRPr lang="en-US"/>
          </a:p>
        </p:txBody>
      </p:sp>
    </p:spTree>
    <p:extLst>
      <p:ext uri="{BB962C8B-B14F-4D97-AF65-F5344CB8AC3E}">
        <p14:creationId xmlns:p14="http://schemas.microsoft.com/office/powerpoint/2010/main" val="1043908981"/>
      </p:ext>
    </p:extLst>
  </p:cSld>
  <p:clrMapOvr>
    <a:masterClrMapping/>
  </p:clrMapOvr>
  <p:transition spd="med">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C3CEEA36-5FA8-4C13-8309-AD7706FEC9F1}" type="datetimeFigureOut">
              <a:rPr lang="en-US" smtClean="0"/>
              <a:pPr/>
              <a:t>9/13/2026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BD063A00-573F-4298-BF14-96197D544E66}" type="slidenum">
              <a:rPr lang="en-US" smtClean="0"/>
              <a:pPr/>
              <a:t>‹#›</a:t>
            </a:fld>
            <a:endParaRPr lang="en-US"/>
          </a:p>
        </p:txBody>
      </p:sp>
    </p:spTree>
    <p:extLst>
      <p:ext uri="{BB962C8B-B14F-4D97-AF65-F5344CB8AC3E}">
        <p14:creationId xmlns:p14="http://schemas.microsoft.com/office/powerpoint/2010/main" val="1829238016"/>
      </p:ext>
    </p:extLst>
  </p:cSld>
  <p:clrMapOvr>
    <a:masterClrMapping/>
  </p:clrMapOvr>
  <p:transition spd="med">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5" y="1085850"/>
            <a:ext cx="2550798" cy="1085850"/>
          </a:xfrm>
        </p:spPr>
        <p:txBody>
          <a:bodyPr anchor="b"/>
          <a:lstStyle>
            <a:lvl1pPr algn="l">
              <a:defRPr sz="1800" b="0"/>
            </a:lvl1pPr>
          </a:lstStyle>
          <a:p>
            <a:r>
              <a:rPr lang="en-US"/>
              <a:t>Click to edit Master title style</a:t>
            </a:r>
            <a:endParaRPr lang="en-US" dirty="0"/>
          </a:p>
        </p:txBody>
      </p:sp>
      <p:sp>
        <p:nvSpPr>
          <p:cNvPr id="3" name="Content Placeholder 2"/>
          <p:cNvSpPr>
            <a:spLocks noGrp="1"/>
          </p:cNvSpPr>
          <p:nvPr>
            <p:ph idx="1"/>
          </p:nvPr>
        </p:nvSpPr>
        <p:spPr>
          <a:xfrm>
            <a:off x="3588462" y="1085850"/>
            <a:ext cx="3896998" cy="3429000"/>
          </a:xfrm>
        </p:spPr>
        <p:txBody>
          <a:bodyPr anchor="ctr">
            <a:normAutofit/>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215" y="2346961"/>
            <a:ext cx="2550797" cy="2171699"/>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Date Placeholder 4"/>
          <p:cNvSpPr>
            <a:spLocks noGrp="1"/>
          </p:cNvSpPr>
          <p:nvPr>
            <p:ph type="dt" sz="half" idx="10"/>
          </p:nvPr>
        </p:nvSpPr>
        <p:spPr/>
        <p:txBody>
          <a:bodyPr/>
          <a:lstStyle/>
          <a:p>
            <a:fld id="{C3CEEA36-5FA8-4C13-8309-AD7706FEC9F1}" type="datetimeFigureOut">
              <a:rPr lang="en-US" smtClean="0"/>
              <a:pPr/>
              <a:t>9/13/2026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BD063A00-573F-4298-BF14-96197D544E66}" type="slidenum">
              <a:rPr lang="en-US" smtClean="0"/>
              <a:pPr/>
              <a:t>‹#›</a:t>
            </a:fld>
            <a:endParaRPr lang="en-US"/>
          </a:p>
        </p:txBody>
      </p:sp>
    </p:spTree>
    <p:extLst>
      <p:ext uri="{BB962C8B-B14F-4D97-AF65-F5344CB8AC3E}">
        <p14:creationId xmlns:p14="http://schemas.microsoft.com/office/powerpoint/2010/main" val="2502560477"/>
      </p:ext>
    </p:extLst>
  </p:cSld>
  <p:clrMapOvr>
    <a:masterClrMapping/>
  </p:clrMapOvr>
  <p:transition spd="med">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430" y="1390644"/>
            <a:ext cx="3819680" cy="1181106"/>
          </a:xfrm>
        </p:spPr>
        <p:txBody>
          <a:bodyPr anchor="b">
            <a:normAutofit/>
          </a:bodyPr>
          <a:lstStyle>
            <a:lvl1pPr algn="l">
              <a:defRPr sz="27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2160" y="857250"/>
            <a:ext cx="2400300"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866216" y="2743200"/>
            <a:ext cx="3813734" cy="1028700"/>
          </a:xfrm>
        </p:spPr>
        <p:txBody>
          <a:bodyPr>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C3CEEA36-5FA8-4C13-8309-AD7706FEC9F1}" type="datetimeFigureOut">
              <a:rPr lang="en-US" smtClean="0"/>
              <a:pPr/>
              <a:t>9/13/2026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063A00-573F-4298-BF14-96197D544E66}" type="slidenum">
              <a:rPr lang="en-US" smtClean="0"/>
              <a:pPr/>
              <a:t>‹#›</a:t>
            </a:fld>
            <a:endParaRPr lang="en-US"/>
          </a:p>
        </p:txBody>
      </p:sp>
    </p:spTree>
    <p:extLst>
      <p:ext uri="{BB962C8B-B14F-4D97-AF65-F5344CB8AC3E}">
        <p14:creationId xmlns:p14="http://schemas.microsoft.com/office/powerpoint/2010/main" val="372870112"/>
      </p:ext>
    </p:extLst>
  </p:cSld>
  <p:clrMapOvr>
    <a:masterClrMapping/>
  </p:clrMapOvr>
  <p:transition spd="med">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7" y="3600440"/>
            <a:ext cx="6619243"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216" y="514350"/>
            <a:ext cx="6619244" cy="27305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866217" y="4025494"/>
            <a:ext cx="6619242" cy="370284"/>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C3CEEA36-5FA8-4C13-8309-AD7706FEC9F1}" type="datetimeFigureOut">
              <a:rPr lang="en-US" smtClean="0"/>
              <a:pPr/>
              <a:t>9/13/2026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063A00-573F-4298-BF14-96197D544E66}" type="slidenum">
              <a:rPr lang="en-US" smtClean="0"/>
              <a:pPr/>
              <a:t>‹#›</a:t>
            </a:fld>
            <a:endParaRPr lang="en-US"/>
          </a:p>
        </p:txBody>
      </p:sp>
    </p:spTree>
    <p:extLst>
      <p:ext uri="{BB962C8B-B14F-4D97-AF65-F5344CB8AC3E}">
        <p14:creationId xmlns:p14="http://schemas.microsoft.com/office/powerpoint/2010/main" val="17311158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6" y="1085850"/>
            <a:ext cx="6619244" cy="1485900"/>
          </a:xfrm>
        </p:spPr>
        <p:txBody>
          <a:bodyPr/>
          <a:lstStyle>
            <a:lvl1pPr>
              <a:defRPr sz="3600"/>
            </a:lvl1pPr>
          </a:lstStyle>
          <a:p>
            <a:r>
              <a:rPr lang="en-US"/>
              <a:t>Click to edit Master title style</a:t>
            </a:r>
            <a:endParaRPr lang="en-US" dirty="0"/>
          </a:p>
        </p:txBody>
      </p:sp>
      <p:sp>
        <p:nvSpPr>
          <p:cNvPr id="8" name="Text Placeholder 3"/>
          <p:cNvSpPr>
            <a:spLocks noGrp="1"/>
          </p:cNvSpPr>
          <p:nvPr>
            <p:ph type="body" sz="half" idx="2"/>
          </p:nvPr>
        </p:nvSpPr>
        <p:spPr>
          <a:xfrm>
            <a:off x="866216" y="2743200"/>
            <a:ext cx="6619244" cy="177165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fld id="{C3CEEA36-5FA8-4C13-8309-AD7706FEC9F1}" type="datetimeFigureOut">
              <a:rPr lang="en-US" smtClean="0"/>
              <a:pPr/>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063A00-573F-4298-BF14-96197D544E66}" type="slidenum">
              <a:rPr lang="en-US" smtClean="0"/>
              <a:pPr/>
              <a:t>‹#›</a:t>
            </a:fld>
            <a:endParaRPr lang="en-US"/>
          </a:p>
        </p:txBody>
      </p:sp>
    </p:spTree>
    <p:extLst>
      <p:ext uri="{BB962C8B-B14F-4D97-AF65-F5344CB8AC3E}">
        <p14:creationId xmlns:p14="http://schemas.microsoft.com/office/powerpoint/2010/main" val="23082461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101" y="1085850"/>
            <a:ext cx="5999486" cy="1742531"/>
          </a:xfrm>
        </p:spPr>
        <p:txBody>
          <a:bodyPr/>
          <a:lstStyle>
            <a:lvl1pPr>
              <a:defRPr sz="3600"/>
            </a:lvl1pPr>
          </a:lstStyle>
          <a:p>
            <a:r>
              <a:rPr lang="en-US"/>
              <a:t>Click to edit Master title style</a:t>
            </a:r>
            <a:endParaRPr lang="en-US" dirty="0"/>
          </a:p>
        </p:txBody>
      </p:sp>
      <p:sp>
        <p:nvSpPr>
          <p:cNvPr id="11" name="Text Placeholder 3"/>
          <p:cNvSpPr>
            <a:spLocks noGrp="1"/>
          </p:cNvSpPr>
          <p:nvPr>
            <p:ph type="body" sz="half" idx="14"/>
          </p:nvPr>
        </p:nvSpPr>
        <p:spPr>
          <a:xfrm>
            <a:off x="1447800" y="2828380"/>
            <a:ext cx="5459737" cy="256631"/>
          </a:xfrm>
        </p:spPr>
        <p:txBody>
          <a:bodyPr vert="horz" lIns="91440" tIns="45720" rIns="91440" bIns="45720" rtlCol="0" anchor="t">
            <a:normAutofit/>
          </a:bodyPr>
          <a:lstStyle>
            <a:lvl1pPr marL="0" indent="0">
              <a:buNone/>
              <a:defRPr lang="en-US" sz="1050" b="0" i="0" kern="1200" cap="small" dirty="0">
                <a:solidFill>
                  <a:schemeClr val="bg2">
                    <a:lumMod val="40000"/>
                    <a:lumOff val="60000"/>
                  </a:schemeClr>
                </a:solidFill>
                <a:latin typeface="+mj-lt"/>
                <a:ea typeface="+mj-ea"/>
                <a:cs typeface="+mj-cs"/>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marL="0" lvl="0" indent="0">
              <a:buNone/>
            </a:pPr>
            <a:r>
              <a:rPr lang="en-US"/>
              <a:t>Click to edit Master text styles</a:t>
            </a:r>
          </a:p>
        </p:txBody>
      </p:sp>
      <p:sp>
        <p:nvSpPr>
          <p:cNvPr id="10" name="Text Placeholder 3"/>
          <p:cNvSpPr>
            <a:spLocks noGrp="1"/>
          </p:cNvSpPr>
          <p:nvPr>
            <p:ph type="body" sz="half" idx="2"/>
          </p:nvPr>
        </p:nvSpPr>
        <p:spPr>
          <a:xfrm>
            <a:off x="866216" y="3262993"/>
            <a:ext cx="6619244" cy="125730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fld id="{C3CEEA36-5FA8-4C13-8309-AD7706FEC9F1}" type="datetimeFigureOut">
              <a:rPr lang="en-US" smtClean="0"/>
              <a:pPr/>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063A00-573F-4298-BF14-96197D544E66}" type="slidenum">
              <a:rPr lang="en-US" smtClean="0"/>
              <a:pPr/>
              <a:t>‹#›</a:t>
            </a:fld>
            <a:endParaRPr lang="en-US"/>
          </a:p>
        </p:txBody>
      </p:sp>
      <p:sp>
        <p:nvSpPr>
          <p:cNvPr id="12" name="TextBox 11"/>
          <p:cNvSpPr txBox="1"/>
          <p:nvPr/>
        </p:nvSpPr>
        <p:spPr>
          <a:xfrm>
            <a:off x="673721" y="728440"/>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
        <p:nvSpPr>
          <p:cNvPr id="15" name="TextBox 14"/>
          <p:cNvSpPr txBox="1"/>
          <p:nvPr/>
        </p:nvSpPr>
        <p:spPr>
          <a:xfrm>
            <a:off x="6997868" y="1960341"/>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Tree>
    <p:extLst>
      <p:ext uri="{BB962C8B-B14F-4D97-AF65-F5344CB8AC3E}">
        <p14:creationId xmlns:p14="http://schemas.microsoft.com/office/powerpoint/2010/main" val="18082285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216" y="2343151"/>
            <a:ext cx="6619245" cy="1239885"/>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none">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CEEA36-5FA8-4C13-8309-AD7706FEC9F1}" type="datetimeFigureOut">
              <a:rPr lang="en-US" smtClean="0"/>
              <a:pPr/>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063A00-573F-4298-BF14-96197D544E66}" type="slidenum">
              <a:rPr lang="en-US" smtClean="0"/>
              <a:pPr/>
              <a:t>‹#›</a:t>
            </a:fld>
            <a:endParaRPr lang="en-US"/>
          </a:p>
        </p:txBody>
      </p:sp>
    </p:spTree>
    <p:extLst>
      <p:ext uri="{BB962C8B-B14F-4D97-AF65-F5344CB8AC3E}">
        <p14:creationId xmlns:p14="http://schemas.microsoft.com/office/powerpoint/2010/main" val="26777743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US"/>
              <a:t>Click to edit Master title style</a:t>
            </a:r>
            <a:endParaRPr lang="en-US" dirty="0"/>
          </a:p>
        </p:txBody>
      </p:sp>
      <p:sp>
        <p:nvSpPr>
          <p:cNvPr id="3" name="Text Placeholder 2"/>
          <p:cNvSpPr>
            <a:spLocks noGrp="1"/>
          </p:cNvSpPr>
          <p:nvPr>
            <p:ph type="body" idx="1"/>
          </p:nvPr>
        </p:nvSpPr>
        <p:spPr>
          <a:xfrm>
            <a:off x="474710" y="1485900"/>
            <a:ext cx="2210150"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6" name="Text Placeholder 3"/>
          <p:cNvSpPr>
            <a:spLocks noGrp="1"/>
          </p:cNvSpPr>
          <p:nvPr>
            <p:ph type="body" sz="half" idx="15"/>
          </p:nvPr>
        </p:nvSpPr>
        <p:spPr>
          <a:xfrm>
            <a:off x="489347" y="2000250"/>
            <a:ext cx="2195513"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2912745" y="1485900"/>
            <a:ext cx="2202181"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9" name="Text Placeholder 3"/>
          <p:cNvSpPr>
            <a:spLocks noGrp="1"/>
          </p:cNvSpPr>
          <p:nvPr>
            <p:ph type="body" sz="half" idx="16"/>
          </p:nvPr>
        </p:nvSpPr>
        <p:spPr>
          <a:xfrm>
            <a:off x="2904829" y="2000250"/>
            <a:ext cx="2210096"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343525" y="1485900"/>
            <a:ext cx="2199085"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Text Placeholder 3"/>
          <p:cNvSpPr>
            <a:spLocks noGrp="1"/>
          </p:cNvSpPr>
          <p:nvPr>
            <p:ph type="body" sz="half" idx="17"/>
          </p:nvPr>
        </p:nvSpPr>
        <p:spPr>
          <a:xfrm>
            <a:off x="5343525" y="2000250"/>
            <a:ext cx="2199085"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7" name="Straight Connector 16"/>
          <p:cNvCxnSpPr/>
          <p:nvPr/>
        </p:nvCxnSpPr>
        <p:spPr>
          <a:xfrm>
            <a:off x="2794607" y="1600200"/>
            <a:ext cx="0" cy="29718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1670" y="1600200"/>
            <a:ext cx="0" cy="297516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3CEEA36-5FA8-4C13-8309-AD7706FEC9F1}" type="datetimeFigureOut">
              <a:rPr lang="en-US" smtClean="0"/>
              <a:pPr/>
              <a:t>9/13/2026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063A00-573F-4298-BF14-96197D544E66}" type="slidenum">
              <a:rPr lang="en-US" smtClean="0"/>
              <a:pPr/>
              <a:t>‹#›</a:t>
            </a:fld>
            <a:endParaRPr lang="en-US"/>
          </a:p>
        </p:txBody>
      </p:sp>
    </p:spTree>
    <p:extLst>
      <p:ext uri="{BB962C8B-B14F-4D97-AF65-F5344CB8AC3E}">
        <p14:creationId xmlns:p14="http://schemas.microsoft.com/office/powerpoint/2010/main" val="32036970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US"/>
              <a:t>Click to edit Master title style</a:t>
            </a:r>
            <a:endParaRPr lang="en-US" dirty="0"/>
          </a:p>
        </p:txBody>
      </p:sp>
      <p:sp>
        <p:nvSpPr>
          <p:cNvPr id="3" name="Text Placeholder 2"/>
          <p:cNvSpPr>
            <a:spLocks noGrp="1"/>
          </p:cNvSpPr>
          <p:nvPr>
            <p:ph type="body" idx="1"/>
          </p:nvPr>
        </p:nvSpPr>
        <p:spPr>
          <a:xfrm>
            <a:off x="489347" y="3188212"/>
            <a:ext cx="2205038"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9" name="Picture Placeholder 2"/>
          <p:cNvSpPr>
            <a:spLocks noGrp="1" noChangeAspect="1"/>
          </p:cNvSpPr>
          <p:nvPr>
            <p:ph type="pic" idx="15"/>
          </p:nvPr>
        </p:nvSpPr>
        <p:spPr>
          <a:xfrm>
            <a:off x="489347" y="1657350"/>
            <a:ext cx="2205038"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2" name="Text Placeholder 3"/>
          <p:cNvSpPr>
            <a:spLocks noGrp="1"/>
          </p:cNvSpPr>
          <p:nvPr>
            <p:ph type="body" sz="half" idx="18"/>
          </p:nvPr>
        </p:nvSpPr>
        <p:spPr>
          <a:xfrm>
            <a:off x="489347" y="3620409"/>
            <a:ext cx="220503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2917032" y="3188212"/>
            <a:ext cx="219789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30" name="Picture Placeholder 2"/>
          <p:cNvSpPr>
            <a:spLocks noGrp="1" noChangeAspect="1"/>
          </p:cNvSpPr>
          <p:nvPr>
            <p:ph type="pic" idx="21"/>
          </p:nvPr>
        </p:nvSpPr>
        <p:spPr>
          <a:xfrm>
            <a:off x="2917031" y="1657350"/>
            <a:ext cx="2197894"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3" name="Text Placeholder 3"/>
          <p:cNvSpPr>
            <a:spLocks noGrp="1"/>
          </p:cNvSpPr>
          <p:nvPr>
            <p:ph type="body" sz="half" idx="19"/>
          </p:nvPr>
        </p:nvSpPr>
        <p:spPr>
          <a:xfrm>
            <a:off x="2916016" y="3620408"/>
            <a:ext cx="2200805"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343525" y="3188212"/>
            <a:ext cx="2199085"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31" name="Picture Placeholder 2"/>
          <p:cNvSpPr>
            <a:spLocks noGrp="1" noChangeAspect="1"/>
          </p:cNvSpPr>
          <p:nvPr>
            <p:ph type="pic" idx="22"/>
          </p:nvPr>
        </p:nvSpPr>
        <p:spPr>
          <a:xfrm>
            <a:off x="5343525" y="1657350"/>
            <a:ext cx="2199085"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20"/>
          </p:nvPr>
        </p:nvSpPr>
        <p:spPr>
          <a:xfrm>
            <a:off x="5343432" y="3620406"/>
            <a:ext cx="220199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9" name="Straight Connector 18"/>
          <p:cNvCxnSpPr/>
          <p:nvPr/>
        </p:nvCxnSpPr>
        <p:spPr>
          <a:xfrm>
            <a:off x="2794607" y="1600200"/>
            <a:ext cx="0" cy="29718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1670" y="1600200"/>
            <a:ext cx="0" cy="297516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3CEEA36-5FA8-4C13-8309-AD7706FEC9F1}" type="datetimeFigureOut">
              <a:rPr lang="en-US" smtClean="0"/>
              <a:pPr/>
              <a:t>9/13/2026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063A00-573F-4298-BF14-96197D544E66}" type="slidenum">
              <a:rPr lang="en-US" smtClean="0"/>
              <a:pPr/>
              <a:t>‹#›</a:t>
            </a:fld>
            <a:endParaRPr lang="en-US"/>
          </a:p>
        </p:txBody>
      </p:sp>
    </p:spTree>
    <p:extLst>
      <p:ext uri="{BB962C8B-B14F-4D97-AF65-F5344CB8AC3E}">
        <p14:creationId xmlns:p14="http://schemas.microsoft.com/office/powerpoint/2010/main" val="36176480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CEEA36-5FA8-4C13-8309-AD7706FEC9F1}" type="datetimeFigureOut">
              <a:rPr lang="en-US" smtClean="0"/>
              <a:pPr/>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063A00-573F-4298-BF14-96197D544E66}" type="slidenum">
              <a:rPr lang="en-US" smtClean="0"/>
              <a:pPr/>
              <a:t>‹#›</a:t>
            </a:fld>
            <a:endParaRPr lang="en-US"/>
          </a:p>
        </p:txBody>
      </p:sp>
    </p:spTree>
    <p:extLst>
      <p:ext uri="{BB962C8B-B14F-4D97-AF65-F5344CB8AC3E}">
        <p14:creationId xmlns:p14="http://schemas.microsoft.com/office/powerpoint/2010/main" val="330010815"/>
      </p:ext>
    </p:extLst>
  </p:cSld>
  <p:clrMapOvr>
    <a:masterClrMapping/>
  </p:clrMapOvr>
  <p:transition spd="med">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8159" y="322660"/>
            <a:ext cx="1314451" cy="4369594"/>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348" y="665561"/>
            <a:ext cx="5567362" cy="402669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CEEA36-5FA8-4C13-8309-AD7706FEC9F1}" type="datetimeFigureOut">
              <a:rPr lang="en-US" smtClean="0"/>
              <a:pPr/>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063A00-573F-4298-BF14-96197D544E66}" type="slidenum">
              <a:rPr lang="en-US" smtClean="0"/>
              <a:pPr/>
              <a:t>‹#›</a:t>
            </a:fld>
            <a:endParaRPr lang="en-US"/>
          </a:p>
        </p:txBody>
      </p:sp>
    </p:spTree>
    <p:extLst>
      <p:ext uri="{BB962C8B-B14F-4D97-AF65-F5344CB8AC3E}">
        <p14:creationId xmlns:p14="http://schemas.microsoft.com/office/powerpoint/2010/main" val="1252676164"/>
      </p:ext>
    </p:extLst>
  </p:cSld>
  <p:clrMapOvr>
    <a:masterClrMapping/>
  </p:clrMapOvr>
  <p:transition spd="med">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002264"/>
            <a:ext cx="3027759" cy="3141236"/>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169261"/>
            <a:ext cx="1141809" cy="1774090"/>
          </a:xfrm>
          <a:prstGeom prst="rect">
            <a:avLst/>
          </a:prstGeom>
        </p:spPr>
      </p:pic>
      <p:sp>
        <p:nvSpPr>
          <p:cNvPr id="16" name="Oval 15"/>
          <p:cNvSpPr/>
          <p:nvPr/>
        </p:nvSpPr>
        <p:spPr>
          <a:xfrm>
            <a:off x="6456759"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5999560" y="1"/>
            <a:ext cx="1202540" cy="856055"/>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14" name="Rectangle 13"/>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484584" y="339538"/>
            <a:ext cx="7053542" cy="1050398"/>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484" y="1539689"/>
            <a:ext cx="6709906" cy="314661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616730" y="1343026"/>
            <a:ext cx="742949" cy="228599"/>
          </a:xfrm>
          <a:prstGeom prst="rect">
            <a:avLst/>
          </a:prstGeom>
        </p:spPr>
        <p:txBody>
          <a:bodyPr vert="horz" lIns="91440" tIns="45720" rIns="91440" bIns="45720" rtlCol="0" anchor="t"/>
          <a:lstStyle>
            <a:lvl1pPr algn="l">
              <a:defRPr sz="825" b="0" i="0">
                <a:solidFill>
                  <a:schemeClr val="tx1">
                    <a:tint val="75000"/>
                    <a:alpha val="60000"/>
                  </a:schemeClr>
                </a:solidFill>
              </a:defRPr>
            </a:lvl1pPr>
          </a:lstStyle>
          <a:p>
            <a:fld id="{C3CEEA36-5FA8-4C13-8309-AD7706FEC9F1}" type="datetimeFigureOut">
              <a:rPr lang="en-US" smtClean="0"/>
              <a:pPr/>
              <a:t>9/13/2026</a:t>
            </a:fld>
            <a:endParaRPr lang="en-US"/>
          </a:p>
        </p:txBody>
      </p:sp>
      <p:sp>
        <p:nvSpPr>
          <p:cNvPr id="5" name="Footer Placeholder 4"/>
          <p:cNvSpPr>
            <a:spLocks noGrp="1"/>
          </p:cNvSpPr>
          <p:nvPr>
            <p:ph type="ftr" sz="quarter" idx="3"/>
          </p:nvPr>
        </p:nvSpPr>
        <p:spPr>
          <a:xfrm rot="5400000">
            <a:off x="6713680" y="2418973"/>
            <a:ext cx="2894846" cy="228601"/>
          </a:xfrm>
          <a:prstGeom prst="rect">
            <a:avLst/>
          </a:prstGeom>
        </p:spPr>
        <p:txBody>
          <a:bodyPr vert="horz" lIns="91440" tIns="45720" rIns="91440" bIns="45720" rtlCol="0" anchor="b"/>
          <a:lstStyle>
            <a:lvl1pPr algn="l">
              <a:defRPr sz="825"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a:xfrm>
            <a:off x="7764406" y="221797"/>
            <a:ext cx="628649" cy="575765"/>
          </a:xfrm>
          <a:prstGeom prst="rect">
            <a:avLst/>
          </a:prstGeom>
        </p:spPr>
        <p:txBody>
          <a:bodyPr vert="horz" lIns="91440" tIns="45720" rIns="91440" bIns="45720" rtlCol="0" anchor="b"/>
          <a:lstStyle>
            <a:lvl1pPr algn="ctr">
              <a:defRPr sz="2100" b="0" i="0">
                <a:solidFill>
                  <a:schemeClr val="tx1">
                    <a:tint val="75000"/>
                  </a:schemeClr>
                </a:solidFill>
              </a:defRPr>
            </a:lvl1pPr>
          </a:lstStyle>
          <a:p>
            <a:fld id="{BD063A00-573F-4298-BF14-96197D544E66}" type="slidenum">
              <a:rPr lang="en-US" smtClean="0"/>
              <a:pPr/>
              <a:t>‹#›</a:t>
            </a:fld>
            <a:endParaRPr lang="en-US"/>
          </a:p>
        </p:txBody>
      </p:sp>
    </p:spTree>
    <p:extLst>
      <p:ext uri="{BB962C8B-B14F-4D97-AF65-F5344CB8AC3E}">
        <p14:creationId xmlns:p14="http://schemas.microsoft.com/office/powerpoint/2010/main" val="415497326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ransition spd="med">
    <p:wipe/>
  </p:transition>
  <p:txStyles>
    <p:titleStyle>
      <a:lvl1pPr algn="l" defTabSz="342900" rtl="0" eaLnBrk="1" latinLnBrk="0" hangingPunct="1">
        <a:spcBef>
          <a:spcPct val="0"/>
        </a:spcBef>
        <a:buNone/>
        <a:defRPr sz="315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bg2">
            <a:lumMod val="40000"/>
            <a:lumOff val="60000"/>
          </a:schemeClr>
        </a:buClr>
        <a:buSzPct val="80000"/>
        <a:buFont typeface="Wingdings 3" charset="2"/>
        <a:buChar char=""/>
        <a:defRPr sz="1500" b="0" i="0" kern="1200">
          <a:solidFill>
            <a:schemeClr val="tx1"/>
          </a:solidFill>
          <a:latin typeface="+mj-lt"/>
          <a:ea typeface="+mj-ea"/>
          <a:cs typeface="+mj-cs"/>
        </a:defRPr>
      </a:lvl1pPr>
      <a:lvl2pPr marL="557213" indent="-214313" algn="l" defTabSz="342900" rtl="0" eaLnBrk="1" latinLnBrk="0" hangingPunct="1">
        <a:spcBef>
          <a:spcPts val="750"/>
        </a:spcBef>
        <a:spcAft>
          <a:spcPts val="0"/>
        </a:spcAft>
        <a:buClr>
          <a:schemeClr val="bg2">
            <a:lumMod val="40000"/>
            <a:lumOff val="60000"/>
          </a:schemeClr>
        </a:buClr>
        <a:buSzPct val="80000"/>
        <a:buFont typeface="Wingdings 3" charset="2"/>
        <a:buChar char=""/>
        <a:defRPr sz="1350" b="0" i="0" kern="1200">
          <a:solidFill>
            <a:schemeClr val="tx1"/>
          </a:solidFill>
          <a:latin typeface="+mj-lt"/>
          <a:ea typeface="+mj-ea"/>
          <a:cs typeface="+mj-cs"/>
        </a:defRPr>
      </a:lvl2pPr>
      <a:lvl3pPr marL="8572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3pPr>
      <a:lvl4pPr marL="12001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4pPr>
      <a:lvl5pPr marL="15430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5pPr>
      <a:lvl6pPr marL="187950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6pPr>
      <a:lvl7pPr marL="22288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7pPr>
      <a:lvl8pPr marL="25717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8pPr>
      <a:lvl9pPr marL="29146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en.wikiquote.org/wiki/United_States_Constitution" TargetMode="External"/><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4019550"/>
            <a:ext cx="8229600" cy="857250"/>
          </a:xfrm>
        </p:spPr>
        <p:txBody>
          <a:bodyPr>
            <a:normAutofit/>
          </a:bodyPr>
          <a:lstStyle/>
          <a:p>
            <a:pPr algn="l"/>
            <a:r>
              <a:rPr lang="en-US" sz="2800" dirty="0"/>
              <a:t>Unit 1: Foundations of American Democracy</a:t>
            </a:r>
          </a:p>
        </p:txBody>
      </p:sp>
      <p:pic>
        <p:nvPicPr>
          <p:cNvPr id="4" name="Picture 3" descr="d511ba7732d14ab59e417c5ba24cd8b2.jpg"/>
          <p:cNvPicPr>
            <a:picLocks noChangeAspect="1"/>
          </p:cNvPicPr>
          <p:nvPr/>
        </p:nvPicPr>
        <p:blipFill>
          <a:blip r:embed="rId2" cstate="print"/>
          <a:stretch>
            <a:fillRect/>
          </a:stretch>
        </p:blipFill>
        <p:spPr>
          <a:xfrm>
            <a:off x="0" y="0"/>
            <a:ext cx="9144000" cy="3943350"/>
          </a:xfrm>
          <a:prstGeom prst="rect">
            <a:avLst/>
          </a:prstGeom>
        </p:spPr>
      </p:pic>
      <p:sp>
        <p:nvSpPr>
          <p:cNvPr id="5" name="TextBox 4"/>
          <p:cNvSpPr txBox="1"/>
          <p:nvPr/>
        </p:nvSpPr>
        <p:spPr>
          <a:xfrm>
            <a:off x="7848600" y="4171950"/>
            <a:ext cx="1172116" cy="646331"/>
          </a:xfrm>
          <a:prstGeom prst="rect">
            <a:avLst/>
          </a:prstGeom>
          <a:noFill/>
        </p:spPr>
        <p:txBody>
          <a:bodyPr wrap="none" rtlCol="0">
            <a:spAutoFit/>
          </a:bodyPr>
          <a:lstStyle/>
          <a:p>
            <a:r>
              <a:rPr lang="en-US" dirty="0">
                <a:latin typeface="Trebuchet MS" pitchFamily="34" charset="0"/>
              </a:rPr>
              <a:t>15-20% of</a:t>
            </a:r>
          </a:p>
          <a:p>
            <a:r>
              <a:rPr lang="en-US" dirty="0">
                <a:latin typeface="Trebuchet MS" pitchFamily="34" charset="0"/>
              </a:rPr>
              <a:t>exam</a:t>
            </a:r>
          </a:p>
        </p:txBody>
      </p:sp>
    </p:spTree>
  </p:cSld>
  <p:clrMapOvr>
    <a:masterClrMapping/>
  </p:clrMapOvr>
  <p:transition spd="med">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4000" dirty="0"/>
              <a:t>Key Vocabulary</a:t>
            </a:r>
          </a:p>
        </p:txBody>
      </p:sp>
      <p:sp>
        <p:nvSpPr>
          <p:cNvPr id="3" name="Content Placeholder 2"/>
          <p:cNvSpPr>
            <a:spLocks noGrp="1"/>
          </p:cNvSpPr>
          <p:nvPr>
            <p:ph idx="1"/>
          </p:nvPr>
        </p:nvSpPr>
        <p:spPr/>
        <p:txBody>
          <a:bodyPr>
            <a:normAutofit/>
          </a:bodyPr>
          <a:lstStyle/>
          <a:p>
            <a:pPr lvl="0"/>
            <a:r>
              <a:rPr lang="en-US" sz="1600" u="sng" dirty="0">
                <a:latin typeface="Trebuchet MS" pitchFamily="34" charset="0"/>
              </a:rPr>
              <a:t>Government:</a:t>
            </a:r>
            <a:r>
              <a:rPr lang="en-US" sz="1600" dirty="0">
                <a:latin typeface="Trebuchet MS" pitchFamily="34" charset="0"/>
              </a:rPr>
              <a:t> the institutions and processes through which public policies are made for society</a:t>
            </a:r>
          </a:p>
          <a:p>
            <a:pPr lvl="0"/>
            <a:r>
              <a:rPr lang="en-US" sz="1600" u="sng" dirty="0">
                <a:latin typeface="Trebuchet MS" pitchFamily="34" charset="0"/>
              </a:rPr>
              <a:t>Politics:</a:t>
            </a:r>
            <a:r>
              <a:rPr lang="en-US" sz="1600" dirty="0">
                <a:latin typeface="Trebuchet MS" pitchFamily="34" charset="0"/>
              </a:rPr>
              <a:t> the way groups of people make decisions, share power, and manage resources as a society</a:t>
            </a:r>
          </a:p>
          <a:p>
            <a:pPr lvl="0"/>
            <a:r>
              <a:rPr lang="en-US" sz="1600" u="sng" dirty="0">
                <a:latin typeface="Trebuchet MS" pitchFamily="34" charset="0"/>
              </a:rPr>
              <a:t>Natural rights:</a:t>
            </a:r>
            <a:r>
              <a:rPr lang="en-US" sz="1600" dirty="0">
                <a:latin typeface="Trebuchet MS" pitchFamily="34" charset="0"/>
              </a:rPr>
              <a:t> rights given to everyone in a state of nature before governments arise</a:t>
            </a:r>
          </a:p>
          <a:p>
            <a:pPr lvl="0"/>
            <a:r>
              <a:rPr lang="en-US" sz="1600" u="sng" dirty="0">
                <a:latin typeface="Trebuchet MS" pitchFamily="34" charset="0"/>
              </a:rPr>
              <a:t>Social contract:</a:t>
            </a:r>
            <a:r>
              <a:rPr lang="en-US" sz="1600" dirty="0">
                <a:latin typeface="Trebuchet MS" pitchFamily="34" charset="0"/>
              </a:rPr>
              <a:t> a form of government where the people consent to being governed by a sovereign</a:t>
            </a:r>
          </a:p>
          <a:p>
            <a:pPr lvl="0"/>
            <a:r>
              <a:rPr lang="en-US" sz="1700" u="sng" dirty="0">
                <a:latin typeface="Trebuchet MS" pitchFamily="34" charset="0"/>
              </a:rPr>
              <a:t>Republicanism:</a:t>
            </a:r>
            <a:r>
              <a:rPr lang="en-US" sz="1700" dirty="0">
                <a:latin typeface="Trebuchet MS" pitchFamily="34" charset="0"/>
              </a:rPr>
              <a:t> the power resides in the people, who elect representatives to govern them</a:t>
            </a:r>
            <a:endParaRPr lang="en-US" sz="1600" dirty="0">
              <a:latin typeface="Trebuchet MS" pitchFamily="34" charset="0"/>
            </a:endParaRPr>
          </a:p>
          <a:p>
            <a:endParaRPr lang="en-US" sz="2400" u="sng" dirty="0">
              <a:latin typeface="Trebuchet MS" pitchFamily="34" charset="0"/>
            </a:endParaRPr>
          </a:p>
        </p:txBody>
      </p:sp>
    </p:spTree>
  </p:cSld>
  <p:clrMapOvr>
    <a:masterClrMapping/>
  </p:clrMapOvr>
  <p:transition spd="med">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sz="4000" dirty="0"/>
              <a:t>Key Vocabulary (Continued)</a:t>
            </a:r>
          </a:p>
        </p:txBody>
      </p:sp>
      <p:sp>
        <p:nvSpPr>
          <p:cNvPr id="3" name="Content Placeholder 2"/>
          <p:cNvSpPr>
            <a:spLocks noGrp="1"/>
          </p:cNvSpPr>
          <p:nvPr>
            <p:ph idx="1"/>
          </p:nvPr>
        </p:nvSpPr>
        <p:spPr/>
        <p:txBody>
          <a:bodyPr>
            <a:normAutofit fontScale="92500" lnSpcReduction="10000"/>
          </a:bodyPr>
          <a:lstStyle/>
          <a:p>
            <a:pPr lvl="0"/>
            <a:r>
              <a:rPr lang="en-US" sz="1600" u="sng" dirty="0">
                <a:latin typeface="Trebuchet MS" pitchFamily="34" charset="0"/>
              </a:rPr>
              <a:t>Democratic theory:</a:t>
            </a:r>
            <a:r>
              <a:rPr lang="en-US" sz="1600" dirty="0">
                <a:latin typeface="Trebuchet MS" pitchFamily="34" charset="0"/>
              </a:rPr>
              <a:t> democracy is a form of government that places ultimate political authority in the hands of people</a:t>
            </a:r>
          </a:p>
          <a:p>
            <a:pPr lvl="1"/>
            <a:r>
              <a:rPr lang="en-US" sz="1400" u="sng" dirty="0">
                <a:latin typeface="Trebuchet MS" pitchFamily="34" charset="0"/>
              </a:rPr>
              <a:t>Direct democracy:</a:t>
            </a:r>
            <a:r>
              <a:rPr lang="en-US" sz="1400" dirty="0">
                <a:latin typeface="Trebuchet MS" pitchFamily="34" charset="0"/>
              </a:rPr>
              <a:t> citizens debate and vote directly on laws</a:t>
            </a:r>
          </a:p>
          <a:p>
            <a:pPr lvl="1"/>
            <a:r>
              <a:rPr lang="en-US" sz="1400" u="sng" dirty="0">
                <a:latin typeface="Trebuchet MS" pitchFamily="34" charset="0"/>
              </a:rPr>
              <a:t>Representative democracy:</a:t>
            </a:r>
            <a:r>
              <a:rPr lang="en-US" sz="1400" dirty="0">
                <a:latin typeface="Trebuchet MS" pitchFamily="34" charset="0"/>
              </a:rPr>
              <a:t> people elect representatives to govern them and to make laws and set policies; essentially an indirect democracy</a:t>
            </a:r>
          </a:p>
          <a:p>
            <a:pPr lvl="0"/>
            <a:r>
              <a:rPr lang="en-US" sz="1600" u="sng" dirty="0">
                <a:latin typeface="Trebuchet MS" pitchFamily="34" charset="0"/>
              </a:rPr>
              <a:t>Elite theory:</a:t>
            </a:r>
            <a:r>
              <a:rPr lang="en-US" sz="1600" dirty="0">
                <a:latin typeface="Trebuchet MS" pitchFamily="34" charset="0"/>
              </a:rPr>
              <a:t> a relatively small, cohesive elite class makes all important decisions rather than the will of the people</a:t>
            </a:r>
          </a:p>
          <a:p>
            <a:pPr lvl="0"/>
            <a:r>
              <a:rPr lang="en-US" sz="1600" u="sng" dirty="0">
                <a:latin typeface="Trebuchet MS" pitchFamily="34" charset="0"/>
              </a:rPr>
              <a:t>Pluralist theory:</a:t>
            </a:r>
            <a:r>
              <a:rPr lang="en-US" sz="1600" dirty="0">
                <a:latin typeface="Trebuchet MS" pitchFamily="34" charset="0"/>
              </a:rPr>
              <a:t> the argument that representative democracies are based on group interest that protect the individual’s interest by representing him/her to the government</a:t>
            </a:r>
          </a:p>
          <a:p>
            <a:r>
              <a:rPr lang="en-US" sz="1600" u="sng" dirty="0">
                <a:latin typeface="Trebuchet MS" pitchFamily="34" charset="0"/>
              </a:rPr>
              <a:t>Federalism:</a:t>
            </a:r>
            <a:r>
              <a:rPr lang="en-US" sz="1600" dirty="0">
                <a:latin typeface="Trebuchet MS" pitchFamily="34" charset="0"/>
              </a:rPr>
              <a:t> a system of government that divides power between a central government and the states</a:t>
            </a:r>
          </a:p>
          <a:p>
            <a:pPr lvl="0"/>
            <a:endParaRPr lang="en-US" sz="1600" dirty="0">
              <a:latin typeface="Trebuchet MS" pitchFamily="34" charset="0"/>
            </a:endParaRPr>
          </a:p>
          <a:p>
            <a:pPr lvl="0"/>
            <a:endParaRPr lang="en-US" sz="1600" dirty="0">
              <a:latin typeface="Trebuchet MS" pitchFamily="34" charset="0"/>
            </a:endParaRPr>
          </a:p>
          <a:p>
            <a:endParaRPr lang="en-US" sz="2400" u="sng" dirty="0">
              <a:latin typeface="Trebuchet MS" pitchFamily="34" charset="0"/>
            </a:endParaRPr>
          </a:p>
        </p:txBody>
      </p:sp>
    </p:spTree>
  </p:cSld>
  <p:clrMapOvr>
    <a:masterClrMapping/>
  </p:clrMapOvr>
  <p:transition spd="med">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03E49-F8ED-F4B2-14FD-2E605AC4C9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FB9E6D-B02E-FD9A-F89A-4C8366FC691E}"/>
              </a:ext>
            </a:extLst>
          </p:cNvPr>
          <p:cNvSpPr>
            <a:spLocks noGrp="1"/>
          </p:cNvSpPr>
          <p:nvPr>
            <p:ph type="title"/>
          </p:nvPr>
        </p:nvSpPr>
        <p:spPr/>
        <p:txBody>
          <a:bodyPr>
            <a:normAutofit fontScale="90000"/>
          </a:bodyPr>
          <a:lstStyle/>
          <a:p>
            <a:pPr algn="l"/>
            <a:r>
              <a:rPr lang="en-US" sz="4000" dirty="0"/>
              <a:t>Key Vocabulary (Continued)</a:t>
            </a:r>
          </a:p>
        </p:txBody>
      </p:sp>
      <p:sp>
        <p:nvSpPr>
          <p:cNvPr id="3" name="Content Placeholder 2">
            <a:extLst>
              <a:ext uri="{FF2B5EF4-FFF2-40B4-BE49-F238E27FC236}">
                <a16:creationId xmlns:a16="http://schemas.microsoft.com/office/drawing/2014/main" id="{36B6522C-C162-A524-9FE9-B16B205F00A7}"/>
              </a:ext>
            </a:extLst>
          </p:cNvPr>
          <p:cNvSpPr>
            <a:spLocks noGrp="1"/>
          </p:cNvSpPr>
          <p:nvPr>
            <p:ph idx="1"/>
          </p:nvPr>
        </p:nvSpPr>
        <p:spPr/>
        <p:txBody>
          <a:bodyPr>
            <a:normAutofit/>
          </a:bodyPr>
          <a:lstStyle/>
          <a:p>
            <a:pPr lvl="0"/>
            <a:r>
              <a:rPr lang="en-US" sz="1600" u="sng" dirty="0">
                <a:latin typeface="Trebuchet MS" pitchFamily="34" charset="0"/>
              </a:rPr>
              <a:t>Block grants:</a:t>
            </a:r>
            <a:r>
              <a:rPr lang="en-US" sz="1600" dirty="0">
                <a:latin typeface="Trebuchet MS" pitchFamily="34" charset="0"/>
              </a:rPr>
              <a:t> A fixed sum of money given by the national government to a state or local government for broadly defined purposes.</a:t>
            </a:r>
          </a:p>
          <a:p>
            <a:pPr lvl="1"/>
            <a:r>
              <a:rPr lang="en-US" sz="1450" u="sng" dirty="0">
                <a:latin typeface="Trebuchet MS" pitchFamily="34" charset="0"/>
              </a:rPr>
              <a:t>Examples:</a:t>
            </a:r>
            <a:r>
              <a:rPr lang="en-US" sz="1450" dirty="0">
                <a:latin typeface="Trebuchet MS" pitchFamily="34" charset="0"/>
              </a:rPr>
              <a:t> Mental Health Block Grant, Social Services Block Grant</a:t>
            </a:r>
          </a:p>
          <a:p>
            <a:r>
              <a:rPr lang="en-US" sz="1600" u="sng" dirty="0">
                <a:latin typeface="Trebuchet MS" pitchFamily="34" charset="0"/>
              </a:rPr>
              <a:t>Categorical grants:</a:t>
            </a:r>
            <a:r>
              <a:rPr lang="en-US" sz="1600" dirty="0">
                <a:latin typeface="Trebuchet MS" pitchFamily="34" charset="0"/>
              </a:rPr>
              <a:t> Federal funds given to state and local governments for narrow, specific purposes.</a:t>
            </a:r>
          </a:p>
          <a:p>
            <a:pPr lvl="1"/>
            <a:r>
              <a:rPr lang="en-US" sz="1450" u="sng" dirty="0">
                <a:latin typeface="Trebuchet MS" pitchFamily="34" charset="0"/>
              </a:rPr>
              <a:t>Examples:</a:t>
            </a:r>
            <a:r>
              <a:rPr lang="en-US" sz="1450" dirty="0">
                <a:latin typeface="Trebuchet MS" pitchFamily="34" charset="0"/>
              </a:rPr>
              <a:t> Medicaid, Head Start, National School Lunch Program</a:t>
            </a:r>
          </a:p>
          <a:p>
            <a:r>
              <a:rPr lang="en-US" sz="1600" u="sng" dirty="0">
                <a:latin typeface="Trebuchet MS" pitchFamily="34" charset="0"/>
              </a:rPr>
              <a:t>Grants-in-Aid:</a:t>
            </a:r>
            <a:r>
              <a:rPr lang="en-US" sz="1600" dirty="0">
                <a:latin typeface="Trebuchet MS" pitchFamily="34" charset="0"/>
              </a:rPr>
              <a:t> Funds given by the national government to state and local governments to pay for specific public programs or projects.</a:t>
            </a:r>
          </a:p>
          <a:p>
            <a:pPr lvl="1"/>
            <a:r>
              <a:rPr lang="en-US" sz="1450" u="sng" dirty="0">
                <a:latin typeface="Trebuchet MS" pitchFamily="34" charset="0"/>
              </a:rPr>
              <a:t>Examples:</a:t>
            </a:r>
            <a:r>
              <a:rPr lang="en-US" sz="1450" dirty="0">
                <a:latin typeface="Trebuchet MS" pitchFamily="34" charset="0"/>
              </a:rPr>
              <a:t> Interstate Highway Construction Grants</a:t>
            </a:r>
            <a:endParaRPr lang="en-US" sz="1450" u="sng" dirty="0">
              <a:latin typeface="Trebuchet MS" pitchFamily="34" charset="0"/>
            </a:endParaRPr>
          </a:p>
          <a:p>
            <a:pPr lvl="0"/>
            <a:endParaRPr lang="en-US" sz="1600" dirty="0">
              <a:latin typeface="Trebuchet MS" pitchFamily="34" charset="0"/>
            </a:endParaRPr>
          </a:p>
          <a:p>
            <a:pPr lvl="0"/>
            <a:endParaRPr lang="en-US" sz="1600" dirty="0">
              <a:latin typeface="Trebuchet MS" pitchFamily="34" charset="0"/>
            </a:endParaRPr>
          </a:p>
          <a:p>
            <a:endParaRPr lang="en-US" sz="2400" u="sng" dirty="0">
              <a:latin typeface="Trebuchet MS" pitchFamily="34" charset="0"/>
            </a:endParaRPr>
          </a:p>
        </p:txBody>
      </p:sp>
    </p:spTree>
    <p:extLst>
      <p:ext uri="{BB962C8B-B14F-4D97-AF65-F5344CB8AC3E}">
        <p14:creationId xmlns:p14="http://schemas.microsoft.com/office/powerpoint/2010/main" val="3991248077"/>
      </p:ext>
    </p:extLst>
  </p:cSld>
  <p:clrMapOvr>
    <a:masterClrMapping/>
  </p:clrMapOvr>
  <p:transition spd="med">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66275-B21E-DA14-CDC2-E573D4AB0A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5A4804-9FEA-DBF1-DCAF-BD9DDEEADF26}"/>
              </a:ext>
            </a:extLst>
          </p:cNvPr>
          <p:cNvSpPr>
            <a:spLocks noGrp="1"/>
          </p:cNvSpPr>
          <p:nvPr>
            <p:ph type="title"/>
          </p:nvPr>
        </p:nvSpPr>
        <p:spPr/>
        <p:txBody>
          <a:bodyPr>
            <a:normAutofit fontScale="90000"/>
          </a:bodyPr>
          <a:lstStyle/>
          <a:p>
            <a:pPr algn="l"/>
            <a:r>
              <a:rPr lang="en-US" sz="4000" dirty="0"/>
              <a:t>Key Vocabulary (Continued)</a:t>
            </a:r>
          </a:p>
        </p:txBody>
      </p:sp>
      <p:sp>
        <p:nvSpPr>
          <p:cNvPr id="3" name="Content Placeholder 2">
            <a:extLst>
              <a:ext uri="{FF2B5EF4-FFF2-40B4-BE49-F238E27FC236}">
                <a16:creationId xmlns:a16="http://schemas.microsoft.com/office/drawing/2014/main" id="{BE85DE19-AE3E-2558-2B8B-3B54D8D68193}"/>
              </a:ext>
            </a:extLst>
          </p:cNvPr>
          <p:cNvSpPr>
            <a:spLocks noGrp="1"/>
          </p:cNvSpPr>
          <p:nvPr>
            <p:ph idx="1"/>
          </p:nvPr>
        </p:nvSpPr>
        <p:spPr/>
        <p:txBody>
          <a:bodyPr>
            <a:normAutofit/>
          </a:bodyPr>
          <a:lstStyle/>
          <a:p>
            <a:pPr lvl="0"/>
            <a:r>
              <a:rPr lang="en-US" sz="1600" u="sng" dirty="0">
                <a:latin typeface="Trebuchet MS" pitchFamily="34" charset="0"/>
              </a:rPr>
              <a:t>Federal mandates:</a:t>
            </a:r>
            <a:r>
              <a:rPr lang="en-US" sz="1600" dirty="0">
                <a:latin typeface="Trebuchet MS" pitchFamily="34" charset="0"/>
              </a:rPr>
              <a:t> Rules or orders set by the national government requiring states, local governments, or private groups to take specific actions or follow strict standards.</a:t>
            </a:r>
          </a:p>
          <a:p>
            <a:pPr lvl="1"/>
            <a:r>
              <a:rPr lang="en-US" sz="1450" u="sng" dirty="0">
                <a:latin typeface="Trebuchet MS" pitchFamily="34" charset="0"/>
              </a:rPr>
              <a:t>Examples:</a:t>
            </a:r>
            <a:r>
              <a:rPr lang="en-US" sz="1450" dirty="0">
                <a:latin typeface="Trebuchet MS" pitchFamily="34" charset="0"/>
              </a:rPr>
              <a:t> Clean Air Act, Americans with Disabilities Act</a:t>
            </a:r>
          </a:p>
          <a:p>
            <a:r>
              <a:rPr lang="en-US" sz="1600" u="sng" dirty="0">
                <a:latin typeface="Trebuchet MS" pitchFamily="34" charset="0"/>
              </a:rPr>
              <a:t>Revenue sharing:</a:t>
            </a:r>
            <a:r>
              <a:rPr lang="en-US" sz="1600" dirty="0">
                <a:latin typeface="Trebuchet MS" pitchFamily="34" charset="0"/>
              </a:rPr>
              <a:t> A fiscal arrangement where a higher level of government allocates a portion of its tax revenues to lower-level state or local governments with few restrictions on how the funds are spent.</a:t>
            </a:r>
          </a:p>
          <a:p>
            <a:pPr lvl="1"/>
            <a:r>
              <a:rPr lang="en-US" sz="1450" u="sng" dirty="0">
                <a:latin typeface="Trebuchet MS" pitchFamily="34" charset="0"/>
              </a:rPr>
              <a:t>Examples:</a:t>
            </a:r>
            <a:r>
              <a:rPr lang="en-US" sz="1450" dirty="0">
                <a:latin typeface="Trebuchet MS" pitchFamily="34" charset="0"/>
              </a:rPr>
              <a:t> American Rescue Plan Act, U.S. General Revenue Sharing Program</a:t>
            </a:r>
            <a:endParaRPr lang="en-US" sz="1450" u="sng" dirty="0">
              <a:latin typeface="Trebuchet MS" pitchFamily="34" charset="0"/>
            </a:endParaRPr>
          </a:p>
          <a:p>
            <a:pPr lvl="0"/>
            <a:endParaRPr lang="en-US" sz="1600" dirty="0">
              <a:latin typeface="Trebuchet MS" pitchFamily="34" charset="0"/>
            </a:endParaRPr>
          </a:p>
          <a:p>
            <a:endParaRPr lang="en-US" sz="2400" u="sng" dirty="0">
              <a:latin typeface="Trebuchet MS" pitchFamily="34" charset="0"/>
            </a:endParaRPr>
          </a:p>
        </p:txBody>
      </p:sp>
    </p:spTree>
    <p:extLst>
      <p:ext uri="{BB962C8B-B14F-4D97-AF65-F5344CB8AC3E}">
        <p14:creationId xmlns:p14="http://schemas.microsoft.com/office/powerpoint/2010/main" val="4877583"/>
      </p:ext>
    </p:extLst>
  </p:cSld>
  <p:clrMapOvr>
    <a:masterClrMapping/>
  </p:clrMapOvr>
  <p:transition spd="med">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4000" dirty="0"/>
              <a:t>Key Documents</a:t>
            </a:r>
          </a:p>
        </p:txBody>
      </p:sp>
      <p:sp>
        <p:nvSpPr>
          <p:cNvPr id="3" name="Content Placeholder 2"/>
          <p:cNvSpPr>
            <a:spLocks noGrp="1"/>
          </p:cNvSpPr>
          <p:nvPr>
            <p:ph idx="1"/>
          </p:nvPr>
        </p:nvSpPr>
        <p:spPr/>
        <p:txBody>
          <a:bodyPr>
            <a:normAutofit fontScale="92500" lnSpcReduction="20000"/>
          </a:bodyPr>
          <a:lstStyle/>
          <a:p>
            <a:pPr lvl="0"/>
            <a:r>
              <a:rPr lang="en-US" sz="1600" dirty="0">
                <a:latin typeface="Trebuchet MS" pitchFamily="34" charset="0"/>
              </a:rPr>
              <a:t>Declaration of Independence</a:t>
            </a:r>
          </a:p>
          <a:p>
            <a:pPr lvl="0"/>
            <a:r>
              <a:rPr lang="en-US" sz="1600" dirty="0">
                <a:latin typeface="Trebuchet MS" pitchFamily="34" charset="0"/>
              </a:rPr>
              <a:t>Articles of Confederation</a:t>
            </a:r>
          </a:p>
          <a:p>
            <a:pPr lvl="0"/>
            <a:r>
              <a:rPr lang="en-US" sz="1600" dirty="0">
                <a:latin typeface="Trebuchet MS" pitchFamily="34" charset="0"/>
              </a:rPr>
              <a:t>Gettysburg Address</a:t>
            </a:r>
          </a:p>
          <a:p>
            <a:pPr lvl="0"/>
            <a:r>
              <a:rPr lang="en-US" sz="1600" dirty="0">
                <a:latin typeface="Trebuchet MS" pitchFamily="34" charset="0"/>
              </a:rPr>
              <a:t>Federalist No. 10</a:t>
            </a:r>
          </a:p>
          <a:p>
            <a:pPr lvl="0"/>
            <a:r>
              <a:rPr lang="en-US" sz="1600" dirty="0">
                <a:latin typeface="Trebuchet MS" pitchFamily="34" charset="0"/>
              </a:rPr>
              <a:t>Federalist No. 51</a:t>
            </a:r>
          </a:p>
          <a:p>
            <a:pPr lvl="0"/>
            <a:r>
              <a:rPr lang="en-US" sz="1600" dirty="0">
                <a:latin typeface="Trebuchet MS" pitchFamily="34" charset="0"/>
              </a:rPr>
              <a:t>Brutus No. 1</a:t>
            </a:r>
          </a:p>
          <a:p>
            <a:pPr lvl="0"/>
            <a:r>
              <a:rPr lang="en-US" sz="1600" dirty="0">
                <a:latin typeface="Trebuchet MS" pitchFamily="34" charset="0"/>
              </a:rPr>
              <a:t>The United States Constitution</a:t>
            </a:r>
          </a:p>
          <a:p>
            <a:pPr lvl="0"/>
            <a:r>
              <a:rPr lang="en-US" sz="1600" dirty="0">
                <a:latin typeface="Trebuchet MS" pitchFamily="34" charset="0"/>
              </a:rPr>
              <a:t>Marbury v. Madison</a:t>
            </a:r>
          </a:p>
          <a:p>
            <a:pPr lvl="0"/>
            <a:r>
              <a:rPr lang="en-US" sz="1600" dirty="0">
                <a:latin typeface="Trebuchet MS" pitchFamily="34" charset="0"/>
              </a:rPr>
              <a:t>Federalist No. 39</a:t>
            </a:r>
          </a:p>
          <a:p>
            <a:pPr lvl="0"/>
            <a:r>
              <a:rPr lang="en-US" sz="1600" dirty="0">
                <a:latin typeface="Trebuchet MS" pitchFamily="34" charset="0"/>
              </a:rPr>
              <a:t>McCulloch v. Maryland</a:t>
            </a:r>
          </a:p>
          <a:p>
            <a:pPr lvl="0"/>
            <a:r>
              <a:rPr lang="en-US" sz="1600" dirty="0">
                <a:latin typeface="Trebuchet MS" pitchFamily="34" charset="0"/>
              </a:rPr>
              <a:t>United States v. Lopez</a:t>
            </a:r>
          </a:p>
          <a:p>
            <a:pPr lvl="0"/>
            <a:endParaRPr lang="en-US" sz="2400" dirty="0">
              <a:latin typeface="Trebuchet MS" pitchFamily="34" charset="0"/>
            </a:endParaRPr>
          </a:p>
          <a:p>
            <a:pPr lvl="0"/>
            <a:endParaRPr lang="en-US" sz="1600" dirty="0">
              <a:latin typeface="Trebuchet MS" pitchFamily="34" charset="0"/>
            </a:endParaRPr>
          </a:p>
          <a:p>
            <a:endParaRPr lang="en-US" sz="2400" u="sng" dirty="0">
              <a:latin typeface="Trebuchet MS" pitchFamily="34" charset="0"/>
            </a:endParaRPr>
          </a:p>
        </p:txBody>
      </p:sp>
    </p:spTree>
  </p:cSld>
  <p:clrMapOvr>
    <a:masterClrMapping/>
  </p:clrMapOvr>
  <p:transition spd="med">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58995-C7E9-6321-611C-AB19BAF078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D6B946-D05E-5E70-6E47-9BC31E7917DF}"/>
              </a:ext>
            </a:extLst>
          </p:cNvPr>
          <p:cNvSpPr>
            <a:spLocks noGrp="1"/>
          </p:cNvSpPr>
          <p:nvPr>
            <p:ph type="title"/>
          </p:nvPr>
        </p:nvSpPr>
        <p:spPr/>
        <p:txBody>
          <a:bodyPr>
            <a:normAutofit/>
          </a:bodyPr>
          <a:lstStyle/>
          <a:p>
            <a:pPr algn="l"/>
            <a:r>
              <a:rPr lang="en-US" sz="4000" dirty="0"/>
              <a:t>Disclaimer</a:t>
            </a:r>
          </a:p>
        </p:txBody>
      </p:sp>
      <p:sp>
        <p:nvSpPr>
          <p:cNvPr id="3" name="Content Placeholder 2">
            <a:extLst>
              <a:ext uri="{FF2B5EF4-FFF2-40B4-BE49-F238E27FC236}">
                <a16:creationId xmlns:a16="http://schemas.microsoft.com/office/drawing/2014/main" id="{887571F3-F256-9C4B-4D13-5EA03910FFC1}"/>
              </a:ext>
            </a:extLst>
          </p:cNvPr>
          <p:cNvSpPr>
            <a:spLocks noGrp="1"/>
          </p:cNvSpPr>
          <p:nvPr>
            <p:ph idx="1"/>
          </p:nvPr>
        </p:nvSpPr>
        <p:spPr>
          <a:solidFill>
            <a:srgbClr val="C00000"/>
          </a:solidFill>
        </p:spPr>
        <p:txBody>
          <a:bodyPr>
            <a:normAutofit/>
          </a:bodyPr>
          <a:lstStyle/>
          <a:p>
            <a:pPr marL="0" lvl="0" indent="0">
              <a:buNone/>
            </a:pPr>
            <a:r>
              <a:rPr lang="en-US" sz="1600" dirty="0">
                <a:latin typeface="Trebuchet MS" pitchFamily="34" charset="0"/>
              </a:rPr>
              <a:t>The following slides simply </a:t>
            </a:r>
            <a:r>
              <a:rPr lang="en-US" sz="1600" i="1" dirty="0">
                <a:latin typeface="Trebuchet MS" pitchFamily="34" charset="0"/>
              </a:rPr>
              <a:t>summarize</a:t>
            </a:r>
            <a:r>
              <a:rPr lang="en-US" sz="1600" dirty="0">
                <a:latin typeface="Trebuchet MS" pitchFamily="34" charset="0"/>
              </a:rPr>
              <a:t> the key documents in the AP® United States Government and Politics curriculum. You should </a:t>
            </a:r>
            <a:r>
              <a:rPr lang="en-US" sz="1600" i="1" dirty="0">
                <a:latin typeface="Trebuchet MS" pitchFamily="34" charset="0"/>
              </a:rPr>
              <a:t>always</a:t>
            </a:r>
            <a:r>
              <a:rPr lang="en-US" sz="1600" dirty="0">
                <a:latin typeface="Trebuchet MS" pitchFamily="34" charset="0"/>
              </a:rPr>
              <a:t> read the actual documents for more specific details and facts, using the slides/notes as a supplementary guide.</a:t>
            </a:r>
          </a:p>
          <a:p>
            <a:pPr lvl="0"/>
            <a:endParaRPr lang="en-US" sz="2400" dirty="0">
              <a:latin typeface="Trebuchet MS" pitchFamily="34" charset="0"/>
            </a:endParaRPr>
          </a:p>
          <a:p>
            <a:pPr lvl="0"/>
            <a:endParaRPr lang="en-US" sz="1600" dirty="0">
              <a:latin typeface="Trebuchet MS" pitchFamily="34" charset="0"/>
            </a:endParaRPr>
          </a:p>
          <a:p>
            <a:endParaRPr lang="en-US" sz="2400" u="sng" dirty="0">
              <a:latin typeface="Trebuchet MS" pitchFamily="34" charset="0"/>
            </a:endParaRPr>
          </a:p>
        </p:txBody>
      </p:sp>
    </p:spTree>
    <p:extLst>
      <p:ext uri="{BB962C8B-B14F-4D97-AF65-F5344CB8AC3E}">
        <p14:creationId xmlns:p14="http://schemas.microsoft.com/office/powerpoint/2010/main" val="4024182512"/>
      </p:ext>
    </p:extLst>
  </p:cSld>
  <p:clrMapOvr>
    <a:masterClrMapping/>
  </p:clrMapOvr>
  <p:transition spd="med">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Declaration of Independence</a:t>
            </a:r>
          </a:p>
        </p:txBody>
      </p:sp>
      <p:sp>
        <p:nvSpPr>
          <p:cNvPr id="3" name="Content Placeholder 2"/>
          <p:cNvSpPr>
            <a:spLocks noGrp="1"/>
          </p:cNvSpPr>
          <p:nvPr>
            <p:ph idx="1"/>
          </p:nvPr>
        </p:nvSpPr>
        <p:spPr/>
        <p:txBody>
          <a:bodyPr>
            <a:normAutofit/>
          </a:bodyPr>
          <a:lstStyle/>
          <a:p>
            <a:r>
              <a:rPr lang="en-US" sz="1600" dirty="0">
                <a:latin typeface="Trebuchet MS" pitchFamily="34" charset="0"/>
              </a:rPr>
              <a:t>Paragraph 1 </a:t>
            </a:r>
            <a:r>
              <a:rPr lang="en-US" sz="1600" dirty="0">
                <a:latin typeface="Trebuchet MS" pitchFamily="34" charset="0"/>
                <a:sym typeface="Wingdings" pitchFamily="2" charset="2"/>
              </a:rPr>
              <a:t> reasons for severing ties to British rule</a:t>
            </a:r>
          </a:p>
          <a:p>
            <a:r>
              <a:rPr lang="en-US" sz="1600" dirty="0">
                <a:latin typeface="Trebuchet MS" pitchFamily="34" charset="0"/>
                <a:sym typeface="Wingdings" pitchFamily="2" charset="2"/>
              </a:rPr>
              <a:t>Paragraph 2  colonists’ belief of the fundamental purpose of government  </a:t>
            </a:r>
            <a:r>
              <a:rPr lang="en-US" sz="1600" i="1" dirty="0">
                <a:latin typeface="Trebuchet MS" pitchFamily="34" charset="0"/>
                <a:sym typeface="Wingdings" pitchFamily="2" charset="2"/>
              </a:rPr>
              <a:t>inalienable rights</a:t>
            </a:r>
            <a:r>
              <a:rPr lang="en-US" sz="1600" dirty="0">
                <a:latin typeface="Trebuchet MS" pitchFamily="34" charset="0"/>
                <a:sym typeface="Wingdings" pitchFamily="2" charset="2"/>
              </a:rPr>
              <a:t> of “life, liberty, and the pursuit of happiness.”</a:t>
            </a:r>
          </a:p>
          <a:p>
            <a:r>
              <a:rPr lang="en-US" sz="1600" dirty="0">
                <a:latin typeface="Trebuchet MS" pitchFamily="34" charset="0"/>
                <a:sym typeface="Wingdings" pitchFamily="2" charset="2"/>
              </a:rPr>
              <a:t>Paragraphs 3-29  colonists’ grievances towards King George III, who ruled over them  common grievances include standing army, taxation without consent, cutting of trade with rest of the world</a:t>
            </a:r>
          </a:p>
          <a:p>
            <a:r>
              <a:rPr lang="en-US" sz="1600" dirty="0">
                <a:latin typeface="Trebuchet MS" pitchFamily="34" charset="0"/>
                <a:sym typeface="Wingdings" pitchFamily="2" charset="2"/>
              </a:rPr>
              <a:t>Paragraphs 30-32  concluding paragraphs declaring the united colonies free from British rule and allegiance to the British crown  signers pledge their lives, fortune, and sacred honor in support of the Declaration.</a:t>
            </a:r>
            <a:endParaRPr lang="en-US" sz="1600" dirty="0">
              <a:latin typeface="Trebuchet MS" pitchFamily="34" charset="0"/>
            </a:endParaRPr>
          </a:p>
        </p:txBody>
      </p:sp>
    </p:spTree>
  </p:cSld>
  <p:clrMapOvr>
    <a:masterClrMapping/>
  </p:clrMapOvr>
  <p:transition spd="med">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Key Takeaways</a:t>
            </a:r>
          </a:p>
        </p:txBody>
      </p:sp>
      <p:sp>
        <p:nvSpPr>
          <p:cNvPr id="3" name="Content Placeholder 2"/>
          <p:cNvSpPr>
            <a:spLocks noGrp="1"/>
          </p:cNvSpPr>
          <p:nvPr>
            <p:ph idx="1"/>
          </p:nvPr>
        </p:nvSpPr>
        <p:spPr/>
        <p:txBody>
          <a:bodyPr>
            <a:normAutofit/>
          </a:bodyPr>
          <a:lstStyle/>
          <a:p>
            <a:r>
              <a:rPr lang="en-US" sz="1600" dirty="0">
                <a:latin typeface="Trebuchet MS" pitchFamily="34" charset="0"/>
              </a:rPr>
              <a:t>Declaration of Independence paid homage to Enlightenment ideals.</a:t>
            </a:r>
          </a:p>
          <a:p>
            <a:pPr lvl="1"/>
            <a:r>
              <a:rPr lang="en-US" sz="1200" dirty="0">
                <a:latin typeface="Trebuchet MS" pitchFamily="34" charset="0"/>
              </a:rPr>
              <a:t>“Life, liberty, pursuit of happiness” and social contract theory </a:t>
            </a:r>
            <a:r>
              <a:rPr lang="en-US" sz="1200" i="1" dirty="0">
                <a:latin typeface="Trebuchet MS" pitchFamily="34" charset="0"/>
              </a:rPr>
              <a:t>heavily inspired</a:t>
            </a:r>
            <a:r>
              <a:rPr lang="en-US" sz="1200" dirty="0">
                <a:latin typeface="Trebuchet MS" pitchFamily="34" charset="0"/>
              </a:rPr>
              <a:t> by John Locke’s works</a:t>
            </a:r>
          </a:p>
          <a:p>
            <a:r>
              <a:rPr lang="en-US" sz="1600" dirty="0">
                <a:latin typeface="Trebuchet MS" pitchFamily="34" charset="0"/>
              </a:rPr>
              <a:t>Separated American ties to British rule</a:t>
            </a:r>
          </a:p>
          <a:p>
            <a:r>
              <a:rPr lang="en-US" sz="1600" dirty="0">
                <a:latin typeface="Trebuchet MS" pitchFamily="34" charset="0"/>
              </a:rPr>
              <a:t>Established a new form of </a:t>
            </a:r>
            <a:r>
              <a:rPr lang="en-US" sz="1600" i="1" dirty="0">
                <a:latin typeface="Trebuchet MS" pitchFamily="34" charset="0"/>
              </a:rPr>
              <a:t>republican</a:t>
            </a:r>
            <a:r>
              <a:rPr lang="en-US" sz="1600" dirty="0">
                <a:latin typeface="Trebuchet MS" pitchFamily="34" charset="0"/>
              </a:rPr>
              <a:t> government: one that derives its powers from the consent of the people</a:t>
            </a:r>
          </a:p>
        </p:txBody>
      </p:sp>
    </p:spTree>
  </p:cSld>
  <p:clrMapOvr>
    <a:masterClrMapping/>
  </p:clrMapOvr>
  <p:transition spd="med">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B1B3D-BB95-D6E3-5843-742AAB8C14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D05680-582E-F295-AFEE-53E8BBF27067}"/>
              </a:ext>
            </a:extLst>
          </p:cNvPr>
          <p:cNvSpPr>
            <a:spLocks noGrp="1"/>
          </p:cNvSpPr>
          <p:nvPr>
            <p:ph type="title"/>
          </p:nvPr>
        </p:nvSpPr>
        <p:spPr/>
        <p:txBody>
          <a:bodyPr/>
          <a:lstStyle/>
          <a:p>
            <a:pPr algn="l"/>
            <a:r>
              <a:rPr lang="en-US" dirty="0"/>
              <a:t>MCQ Practice</a:t>
            </a:r>
          </a:p>
        </p:txBody>
      </p:sp>
      <p:sp>
        <p:nvSpPr>
          <p:cNvPr id="3" name="Content Placeholder 2">
            <a:extLst>
              <a:ext uri="{FF2B5EF4-FFF2-40B4-BE49-F238E27FC236}">
                <a16:creationId xmlns:a16="http://schemas.microsoft.com/office/drawing/2014/main" id="{F1241843-E6E3-F364-4EA7-385ED58A8CC5}"/>
              </a:ext>
            </a:extLst>
          </p:cNvPr>
          <p:cNvSpPr>
            <a:spLocks noGrp="1"/>
          </p:cNvSpPr>
          <p:nvPr>
            <p:ph idx="1"/>
          </p:nvPr>
        </p:nvSpPr>
        <p:spPr/>
        <p:txBody>
          <a:bodyPr>
            <a:normAutofit/>
          </a:bodyPr>
          <a:lstStyle/>
          <a:p>
            <a:pPr marL="0" indent="0">
              <a:buNone/>
            </a:pPr>
            <a:r>
              <a:rPr lang="en-US" sz="1600" dirty="0">
                <a:latin typeface="Times New Roman" panose="02020603050405020304" pitchFamily="18" charset="0"/>
                <a:cs typeface="Times New Roman" panose="02020603050405020304" pitchFamily="18" charset="0"/>
              </a:rPr>
              <a:t>The Declaration of Independence cites specific reasons for separating from British rule, including the British imposing taxes and maintaining a standing army without consent. Which of the following principles or ideas would these grievances be most related to?</a:t>
            </a:r>
          </a:p>
          <a:p>
            <a:pPr marL="342900" indent="-342900">
              <a:buAutoNum type="alphaUcParenBoth"/>
            </a:pPr>
            <a:r>
              <a:rPr lang="en-US" sz="1600" dirty="0">
                <a:latin typeface="Times New Roman" panose="02020603050405020304" pitchFamily="18" charset="0"/>
                <a:cs typeface="Times New Roman" panose="02020603050405020304" pitchFamily="18" charset="0"/>
              </a:rPr>
              <a:t>Natural rights such as life, liberty, and property.</a:t>
            </a:r>
          </a:p>
          <a:p>
            <a:pPr marL="342900" indent="-342900">
              <a:buAutoNum type="alphaUcParenBoth"/>
            </a:pPr>
            <a:r>
              <a:rPr lang="en-US" sz="1600" dirty="0">
                <a:latin typeface="Times New Roman" panose="02020603050405020304" pitchFamily="18" charset="0"/>
                <a:cs typeface="Times New Roman" panose="02020603050405020304" pitchFamily="18" charset="0"/>
              </a:rPr>
              <a:t>The authority to create a centralized military among the colonies.</a:t>
            </a:r>
          </a:p>
          <a:p>
            <a:pPr marL="342900" indent="-342900">
              <a:buAutoNum type="alphaUcParenBoth"/>
            </a:pPr>
            <a:r>
              <a:rPr lang="en-US" sz="1600" dirty="0">
                <a:latin typeface="Times New Roman" panose="02020603050405020304" pitchFamily="18" charset="0"/>
                <a:cs typeface="Times New Roman" panose="02020603050405020304" pitchFamily="18" charset="0"/>
              </a:rPr>
              <a:t>The incorporation of checks and balances among the branches of government.</a:t>
            </a:r>
          </a:p>
          <a:p>
            <a:pPr marL="342900" indent="-342900">
              <a:buAutoNum type="alphaUcParenBoth"/>
            </a:pPr>
            <a:r>
              <a:rPr lang="en-US" sz="1600" dirty="0">
                <a:latin typeface="Times New Roman" panose="02020603050405020304" pitchFamily="18" charset="0"/>
                <a:cs typeface="Times New Roman" panose="02020603050405020304" pitchFamily="18" charset="0"/>
              </a:rPr>
              <a:t>Concurrent powers allowing the colonies to draft their own laws.</a:t>
            </a:r>
          </a:p>
        </p:txBody>
      </p:sp>
      <p:sp>
        <p:nvSpPr>
          <p:cNvPr id="4" name="Octagon 3">
            <a:extLst>
              <a:ext uri="{FF2B5EF4-FFF2-40B4-BE49-F238E27FC236}">
                <a16:creationId xmlns:a16="http://schemas.microsoft.com/office/drawing/2014/main" id="{B72C3A10-B532-2CA7-174A-C98EBCCCC057}"/>
              </a:ext>
            </a:extLst>
          </p:cNvPr>
          <p:cNvSpPr/>
          <p:nvPr/>
        </p:nvSpPr>
        <p:spPr>
          <a:xfrm>
            <a:off x="7086600" y="2571750"/>
            <a:ext cx="1447800" cy="1447800"/>
          </a:xfrm>
          <a:prstGeom prst="octagon">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STOP</a:t>
            </a:r>
          </a:p>
        </p:txBody>
      </p:sp>
      <p:sp>
        <p:nvSpPr>
          <p:cNvPr id="5" name="Rectangle 4">
            <a:extLst>
              <a:ext uri="{FF2B5EF4-FFF2-40B4-BE49-F238E27FC236}">
                <a16:creationId xmlns:a16="http://schemas.microsoft.com/office/drawing/2014/main" id="{7545CE55-9777-5B54-EF7F-408E1D5AF384}"/>
              </a:ext>
            </a:extLst>
          </p:cNvPr>
          <p:cNvSpPr/>
          <p:nvPr/>
        </p:nvSpPr>
        <p:spPr>
          <a:xfrm>
            <a:off x="762000" y="2571750"/>
            <a:ext cx="5029200" cy="4572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2034278"/>
      </p:ext>
    </p:extLst>
  </p:cSld>
  <p:clrMapOvr>
    <a:masterClrMapping/>
  </p:clrMapOvr>
  <p:transition spd="med">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Articles of Confederation</a:t>
            </a:r>
          </a:p>
        </p:txBody>
      </p:sp>
      <p:sp>
        <p:nvSpPr>
          <p:cNvPr id="3" name="Content Placeholder 2"/>
          <p:cNvSpPr>
            <a:spLocks noGrp="1"/>
          </p:cNvSpPr>
          <p:nvPr>
            <p:ph idx="1"/>
          </p:nvPr>
        </p:nvSpPr>
        <p:spPr/>
        <p:txBody>
          <a:bodyPr>
            <a:normAutofit fontScale="85000" lnSpcReduction="20000"/>
          </a:bodyPr>
          <a:lstStyle/>
          <a:p>
            <a:r>
              <a:rPr lang="en-US" sz="1600" dirty="0">
                <a:latin typeface="Trebuchet MS" pitchFamily="34" charset="0"/>
              </a:rPr>
              <a:t>Drafted after Declaration of Independence and came into force in 1781</a:t>
            </a:r>
          </a:p>
          <a:p>
            <a:r>
              <a:rPr lang="en-US" sz="1600" dirty="0">
                <a:latin typeface="Trebuchet MS" pitchFamily="34" charset="0"/>
              </a:rPr>
              <a:t>First body of law for the newly formed nation</a:t>
            </a:r>
          </a:p>
          <a:p>
            <a:r>
              <a:rPr lang="en-US" sz="1600" dirty="0">
                <a:latin typeface="Trebuchet MS" pitchFamily="34" charset="0"/>
              </a:rPr>
              <a:t>Purpose was to preserve the independence and sovereignty of the thirteen states</a:t>
            </a:r>
          </a:p>
          <a:p>
            <a:r>
              <a:rPr lang="en-US" sz="1600" dirty="0">
                <a:latin typeface="Trebuchet MS" pitchFamily="34" charset="0"/>
              </a:rPr>
              <a:t>SUMMARY:</a:t>
            </a:r>
          </a:p>
          <a:p>
            <a:pPr lvl="1"/>
            <a:r>
              <a:rPr lang="en-US" sz="1200" u="sng" dirty="0">
                <a:latin typeface="Trebuchet MS" pitchFamily="34" charset="0"/>
              </a:rPr>
              <a:t>Article I:</a:t>
            </a:r>
            <a:r>
              <a:rPr lang="en-US" sz="1200" dirty="0">
                <a:latin typeface="Trebuchet MS" pitchFamily="34" charset="0"/>
              </a:rPr>
              <a:t> Named the country as “The United States of America.”</a:t>
            </a:r>
          </a:p>
          <a:p>
            <a:pPr lvl="1"/>
            <a:r>
              <a:rPr lang="en-US" sz="1200" u="sng" dirty="0">
                <a:latin typeface="Trebuchet MS" pitchFamily="34" charset="0"/>
              </a:rPr>
              <a:t>Article II:</a:t>
            </a:r>
            <a:r>
              <a:rPr lang="en-US" sz="1200" dirty="0">
                <a:latin typeface="Trebuchet MS" pitchFamily="34" charset="0"/>
              </a:rPr>
              <a:t> Provides that states retain sovereignty not delegated to the national government.</a:t>
            </a:r>
          </a:p>
          <a:p>
            <a:pPr lvl="1"/>
            <a:r>
              <a:rPr lang="en-US" sz="1200" u="sng" dirty="0">
                <a:latin typeface="Trebuchet MS" pitchFamily="34" charset="0"/>
              </a:rPr>
              <a:t>Article III:</a:t>
            </a:r>
            <a:r>
              <a:rPr lang="en-US" sz="1200" dirty="0">
                <a:latin typeface="Trebuchet MS" pitchFamily="34" charset="0"/>
              </a:rPr>
              <a:t> Creates a “league of friendship” between states for defense and security.</a:t>
            </a:r>
          </a:p>
          <a:p>
            <a:pPr lvl="1"/>
            <a:r>
              <a:rPr lang="en-US" sz="1200" u="sng" dirty="0">
                <a:latin typeface="Trebuchet MS" pitchFamily="34" charset="0"/>
              </a:rPr>
              <a:t>Article IV:</a:t>
            </a:r>
            <a:r>
              <a:rPr lang="en-US" sz="1200" dirty="0">
                <a:latin typeface="Trebuchet MS" pitchFamily="34" charset="0"/>
              </a:rPr>
              <a:t> Protects equal treatment and freedom of movement for citizens.</a:t>
            </a:r>
          </a:p>
          <a:p>
            <a:pPr lvl="1"/>
            <a:r>
              <a:rPr lang="en-US" sz="1200" u="sng" dirty="0">
                <a:latin typeface="Trebuchet MS" pitchFamily="34" charset="0"/>
              </a:rPr>
              <a:t>Article V:</a:t>
            </a:r>
            <a:r>
              <a:rPr lang="en-US" sz="1200" dirty="0">
                <a:latin typeface="Trebuchet MS" pitchFamily="34" charset="0"/>
              </a:rPr>
              <a:t> Allocates one vote in Congress for each state.</a:t>
            </a:r>
          </a:p>
          <a:p>
            <a:pPr lvl="1"/>
            <a:r>
              <a:rPr lang="en-US" sz="1200" u="sng" dirty="0">
                <a:latin typeface="Trebuchet MS" pitchFamily="34" charset="0"/>
              </a:rPr>
              <a:t>Article VI:</a:t>
            </a:r>
            <a:r>
              <a:rPr lang="en-US" sz="1200" dirty="0">
                <a:latin typeface="Trebuchet MS" pitchFamily="34" charset="0"/>
              </a:rPr>
              <a:t> Gives the national government the power to declare war.</a:t>
            </a:r>
          </a:p>
          <a:p>
            <a:pPr lvl="1"/>
            <a:r>
              <a:rPr lang="en-US" sz="1200" u="sng" dirty="0">
                <a:latin typeface="Trebuchet MS" pitchFamily="34" charset="0"/>
              </a:rPr>
              <a:t>Article VII:</a:t>
            </a:r>
            <a:r>
              <a:rPr lang="en-US" sz="1200" dirty="0">
                <a:latin typeface="Trebuchet MS" pitchFamily="34" charset="0"/>
              </a:rPr>
              <a:t> Gives states the power to assign military ranks.</a:t>
            </a:r>
          </a:p>
          <a:p>
            <a:pPr lvl="1"/>
            <a:r>
              <a:rPr lang="en-US" sz="1200" u="sng" dirty="0">
                <a:latin typeface="Trebuchet MS" pitchFamily="34" charset="0"/>
              </a:rPr>
              <a:t>Article VIII:</a:t>
            </a:r>
            <a:r>
              <a:rPr lang="en-US" sz="1200" dirty="0">
                <a:latin typeface="Trebuchet MS" pitchFamily="34" charset="0"/>
              </a:rPr>
              <a:t> Expenditures by the United States will be paid with funds raised by state legislatures.</a:t>
            </a:r>
            <a:endParaRPr lang="en-US" sz="1200" u="sng" dirty="0">
              <a:latin typeface="Trebuchet MS" pitchFamily="34" charset="0"/>
            </a:endParaRPr>
          </a:p>
          <a:p>
            <a:endParaRPr lang="en-US" sz="1600" u="sng" dirty="0">
              <a:latin typeface="Trebuchet MS" pitchFamily="34" charset="0"/>
            </a:endParaRPr>
          </a:p>
        </p:txBody>
      </p:sp>
    </p:spTree>
  </p:cSld>
  <p:clrMapOvr>
    <a:masterClrMapping/>
  </p:clrMapOvr>
  <p:transition spd="med">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Articles of Confederation</a:t>
            </a:r>
          </a:p>
        </p:txBody>
      </p:sp>
      <p:sp>
        <p:nvSpPr>
          <p:cNvPr id="3" name="Content Placeholder 2"/>
          <p:cNvSpPr>
            <a:spLocks noGrp="1"/>
          </p:cNvSpPr>
          <p:nvPr>
            <p:ph idx="1"/>
          </p:nvPr>
        </p:nvSpPr>
        <p:spPr/>
        <p:txBody>
          <a:bodyPr>
            <a:normAutofit/>
          </a:bodyPr>
          <a:lstStyle/>
          <a:p>
            <a:r>
              <a:rPr lang="en-US" sz="1600" dirty="0">
                <a:latin typeface="Trebuchet MS" pitchFamily="34" charset="0"/>
              </a:rPr>
              <a:t>SUMMARY</a:t>
            </a:r>
          </a:p>
          <a:p>
            <a:pPr lvl="1"/>
            <a:r>
              <a:rPr lang="en-US" sz="1200" u="sng" dirty="0">
                <a:latin typeface="Trebuchet MS" pitchFamily="34" charset="0"/>
              </a:rPr>
              <a:t>Article IX:</a:t>
            </a:r>
            <a:r>
              <a:rPr lang="en-US" sz="1200" dirty="0">
                <a:latin typeface="Trebuchet MS" pitchFamily="34" charset="0"/>
              </a:rPr>
              <a:t> Gives Congress the power to declare war and peace, appoint tribunals for crimes on the seas, regulate the post office, appoint a president, and request regulations from states. Nine states are required to consent to declare war.</a:t>
            </a:r>
          </a:p>
          <a:p>
            <a:pPr lvl="1"/>
            <a:r>
              <a:rPr lang="en-US" sz="1200" u="sng" dirty="0">
                <a:latin typeface="Trebuchet MS" pitchFamily="34" charset="0"/>
              </a:rPr>
              <a:t>Article X:</a:t>
            </a:r>
            <a:r>
              <a:rPr lang="en-US" sz="1200" dirty="0">
                <a:latin typeface="Trebuchet MS" pitchFamily="34" charset="0"/>
              </a:rPr>
              <a:t> Allows a “committee of the states” to exercise the powers of Congress when Congress is not in session.</a:t>
            </a:r>
          </a:p>
          <a:p>
            <a:pPr lvl="1"/>
            <a:r>
              <a:rPr lang="en-US" sz="1200" u="sng" dirty="0">
                <a:latin typeface="Trebuchet MS" pitchFamily="34" charset="0"/>
              </a:rPr>
              <a:t>Article XI:</a:t>
            </a:r>
            <a:r>
              <a:rPr lang="en-US" sz="1200" dirty="0">
                <a:latin typeface="Trebuchet MS" pitchFamily="34" charset="0"/>
              </a:rPr>
              <a:t> Provides that Canada may join the Union.</a:t>
            </a:r>
          </a:p>
          <a:p>
            <a:pPr lvl="1"/>
            <a:r>
              <a:rPr lang="en-US" sz="1200" u="sng" dirty="0">
                <a:latin typeface="Trebuchet MS" pitchFamily="34" charset="0"/>
              </a:rPr>
              <a:t>Article XII:</a:t>
            </a:r>
            <a:r>
              <a:rPr lang="en-US" sz="1200" dirty="0">
                <a:latin typeface="Trebuchet MS" pitchFamily="34" charset="0"/>
              </a:rPr>
              <a:t> Provides that the Confederation accept the war debt.</a:t>
            </a:r>
          </a:p>
          <a:p>
            <a:pPr lvl="1"/>
            <a:r>
              <a:rPr lang="en-US" sz="1200" u="sng" dirty="0">
                <a:latin typeface="Trebuchet MS" pitchFamily="34" charset="0"/>
              </a:rPr>
              <a:t>Article XIII:</a:t>
            </a:r>
            <a:r>
              <a:rPr lang="en-US" sz="1200" dirty="0">
                <a:latin typeface="Trebuchet MS" pitchFamily="34" charset="0"/>
              </a:rPr>
              <a:t> Provides that amendments require the approval of all thirteen states.</a:t>
            </a:r>
            <a:endParaRPr lang="en-US" sz="1200" u="sng" dirty="0">
              <a:latin typeface="Trebuchet MS" pitchFamily="34" charset="0"/>
            </a:endParaRPr>
          </a:p>
          <a:p>
            <a:pPr lvl="1"/>
            <a:endParaRPr lang="en-US" sz="1200" dirty="0">
              <a:latin typeface="Trebuchet MS" pitchFamily="34" charset="0"/>
            </a:endParaRPr>
          </a:p>
          <a:p>
            <a:endParaRPr lang="en-US" sz="1600" u="sng" dirty="0">
              <a:latin typeface="Trebuchet MS" pitchFamily="34" charset="0"/>
            </a:endParaRPr>
          </a:p>
        </p:txBody>
      </p:sp>
    </p:spTree>
  </p:cSld>
  <p:clrMapOvr>
    <a:masterClrMapping/>
  </p:clrMapOvr>
  <p:transition spd="med">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Key Takeaways</a:t>
            </a:r>
          </a:p>
        </p:txBody>
      </p:sp>
      <p:sp>
        <p:nvSpPr>
          <p:cNvPr id="3" name="Content Placeholder 2"/>
          <p:cNvSpPr>
            <a:spLocks noGrp="1"/>
          </p:cNvSpPr>
          <p:nvPr>
            <p:ph sz="half" idx="1"/>
          </p:nvPr>
        </p:nvSpPr>
        <p:spPr>
          <a:xfrm>
            <a:off x="457200" y="1200150"/>
            <a:ext cx="4038600" cy="2545556"/>
          </a:xfrm>
        </p:spPr>
        <p:txBody>
          <a:bodyPr>
            <a:normAutofit/>
          </a:bodyPr>
          <a:lstStyle/>
          <a:p>
            <a:r>
              <a:rPr lang="en-US" sz="1600" dirty="0">
                <a:latin typeface="Trebuchet MS" pitchFamily="34" charset="0"/>
              </a:rPr>
              <a:t>PROS</a:t>
            </a:r>
          </a:p>
          <a:p>
            <a:pPr lvl="1"/>
            <a:r>
              <a:rPr lang="en-US" sz="1200" dirty="0">
                <a:latin typeface="Trebuchet MS" pitchFamily="34" charset="0"/>
              </a:rPr>
              <a:t>Provides significant freedom to states, preventing them from being under the rule of a tyrannical government.</a:t>
            </a:r>
          </a:p>
          <a:p>
            <a:pPr lvl="1"/>
            <a:r>
              <a:rPr lang="en-US" sz="1200" dirty="0">
                <a:latin typeface="Trebuchet MS" pitchFamily="34" charset="0"/>
              </a:rPr>
              <a:t>Each state is given equal representation in Congress, with one vote per state, honoring the founding principle that “all men are created equal.”</a:t>
            </a:r>
          </a:p>
          <a:p>
            <a:pPr lvl="1"/>
            <a:endParaRPr lang="en-US" sz="1200" dirty="0">
              <a:latin typeface="Trebuchet MS" pitchFamily="34" charset="0"/>
            </a:endParaRPr>
          </a:p>
          <a:p>
            <a:pPr lvl="1"/>
            <a:endParaRPr lang="en-US" sz="1200" dirty="0">
              <a:latin typeface="Trebuchet MS" pitchFamily="34" charset="0"/>
            </a:endParaRPr>
          </a:p>
          <a:p>
            <a:endParaRPr lang="en-US" sz="1600" u="sng" dirty="0">
              <a:latin typeface="Trebuchet MS" pitchFamily="34" charset="0"/>
            </a:endParaRPr>
          </a:p>
        </p:txBody>
      </p:sp>
      <p:sp>
        <p:nvSpPr>
          <p:cNvPr id="5" name="Content Placeholder 4"/>
          <p:cNvSpPr>
            <a:spLocks noGrp="1"/>
          </p:cNvSpPr>
          <p:nvPr>
            <p:ph sz="half" idx="2"/>
          </p:nvPr>
        </p:nvSpPr>
        <p:spPr>
          <a:xfrm>
            <a:off x="4648200" y="1169194"/>
            <a:ext cx="4038600" cy="2545556"/>
          </a:xfrm>
        </p:spPr>
        <p:txBody>
          <a:bodyPr>
            <a:normAutofit/>
          </a:bodyPr>
          <a:lstStyle/>
          <a:p>
            <a:r>
              <a:rPr lang="en-US" sz="1600" dirty="0">
                <a:latin typeface="Trebuchet MS" pitchFamily="34" charset="0"/>
              </a:rPr>
              <a:t>CONS</a:t>
            </a:r>
          </a:p>
          <a:p>
            <a:pPr lvl="1"/>
            <a:r>
              <a:rPr lang="en-US" sz="1200" dirty="0">
                <a:latin typeface="Trebuchet MS" pitchFamily="34" charset="0"/>
              </a:rPr>
              <a:t>Does not allow Congress to collect taxes, meaning government cannot be funded easily.</a:t>
            </a:r>
          </a:p>
          <a:p>
            <a:pPr lvl="1"/>
            <a:r>
              <a:rPr lang="en-US" sz="1200" dirty="0">
                <a:latin typeface="Trebuchet MS" pitchFamily="34" charset="0"/>
              </a:rPr>
              <a:t>No executive power to enforce laws passed by Congress.</a:t>
            </a:r>
          </a:p>
          <a:p>
            <a:pPr lvl="1"/>
            <a:r>
              <a:rPr lang="en-US" sz="1200" dirty="0">
                <a:latin typeface="Trebuchet MS" pitchFamily="34" charset="0"/>
              </a:rPr>
              <a:t>Changing the Articles of Confederation requires the consent of all 13 states (which is nearly impossible to achieve).</a:t>
            </a:r>
          </a:p>
        </p:txBody>
      </p:sp>
      <p:sp>
        <p:nvSpPr>
          <p:cNvPr id="6" name="Content Placeholder 2"/>
          <p:cNvSpPr txBox="1">
            <a:spLocks/>
          </p:cNvSpPr>
          <p:nvPr/>
        </p:nvSpPr>
        <p:spPr>
          <a:xfrm>
            <a:off x="990600" y="3409950"/>
            <a:ext cx="7162800" cy="1631156"/>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1600" b="0" i="0" u="none" strike="noStrike" kern="1200" cap="none" spc="0" normalizeH="0" baseline="0" noProof="0" dirty="0">
                <a:ln>
                  <a:noFill/>
                </a:ln>
                <a:solidFill>
                  <a:schemeClr val="tx1"/>
                </a:solidFill>
                <a:effectLst/>
                <a:uLnTx/>
                <a:uFillTx/>
                <a:latin typeface="Trebuchet MS" pitchFamily="34" charset="0"/>
                <a:ea typeface="+mn-ea"/>
                <a:cs typeface="+mn-cs"/>
              </a:rPr>
              <a:t>WHY DID THE ARTICLES OF CONFEDERATION FAIL?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sz="1200" dirty="0">
                <a:latin typeface="Trebuchet MS" pitchFamily="34" charset="0"/>
              </a:rPr>
              <a:t>Created a </a:t>
            </a:r>
            <a:r>
              <a:rPr lang="en-US" sz="1200" i="1" dirty="0">
                <a:latin typeface="Trebuchet MS" pitchFamily="34" charset="0"/>
              </a:rPr>
              <a:t>weak</a:t>
            </a:r>
            <a:r>
              <a:rPr lang="en-US" sz="1200" dirty="0">
                <a:latin typeface="Trebuchet MS" pitchFamily="34" charset="0"/>
              </a:rPr>
              <a:t> central government that was unable to collect taxes or force states to pay off its debts from the Revolutionary War.</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1200" b="0" i="0" u="none" strike="noStrike" kern="1200" cap="none" spc="0" normalizeH="0" baseline="0" noProof="0" dirty="0">
                <a:ln>
                  <a:noFill/>
                </a:ln>
                <a:solidFill>
                  <a:schemeClr val="tx1"/>
                </a:solidFill>
                <a:effectLst/>
                <a:uLnTx/>
                <a:uFillTx/>
                <a:latin typeface="Trebuchet MS" pitchFamily="34" charset="0"/>
                <a:ea typeface="+mn-ea"/>
                <a:cs typeface="+mn-cs"/>
              </a:rPr>
              <a:t>No</a:t>
            </a:r>
            <a:r>
              <a:rPr kumimoji="0" lang="en-US" sz="1200" b="0" i="0" u="none" strike="noStrike" kern="1200" cap="none" spc="0" normalizeH="0" noProof="0" dirty="0">
                <a:ln>
                  <a:noFill/>
                </a:ln>
                <a:solidFill>
                  <a:schemeClr val="tx1"/>
                </a:solidFill>
                <a:effectLst/>
                <a:uLnTx/>
                <a:uFillTx/>
                <a:latin typeface="Trebuchet MS" pitchFamily="34" charset="0"/>
                <a:ea typeface="+mn-ea"/>
                <a:cs typeface="+mn-cs"/>
              </a:rPr>
              <a:t> federal power (a.k.a. a president) to enforce laws passed by Congress or a federal court system to handle disputes between states.</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sz="1200" baseline="0" dirty="0">
                <a:latin typeface="Trebuchet MS" pitchFamily="34" charset="0"/>
              </a:rPr>
              <a:t>Changing the Articles of Confederation</a:t>
            </a:r>
            <a:r>
              <a:rPr lang="en-US" sz="1200" dirty="0">
                <a:latin typeface="Trebuchet MS" pitchFamily="34" charset="0"/>
              </a:rPr>
              <a:t> was nearly </a:t>
            </a:r>
            <a:r>
              <a:rPr lang="en-US" sz="1200" i="1" dirty="0">
                <a:latin typeface="Trebuchet MS" pitchFamily="34" charset="0"/>
              </a:rPr>
              <a:t>impossible</a:t>
            </a:r>
            <a:r>
              <a:rPr lang="en-US" sz="1200" dirty="0">
                <a:latin typeface="Trebuchet MS" pitchFamily="34" charset="0"/>
              </a:rPr>
              <a:t>, requiring the approval of all thirteen states.</a:t>
            </a:r>
            <a:endParaRPr kumimoji="0" lang="en-US" sz="1200" b="0" i="0" u="none" strike="noStrike" kern="1200" cap="none" spc="0" normalizeH="0" baseline="0" noProof="0" dirty="0">
              <a:ln>
                <a:noFill/>
              </a:ln>
              <a:solidFill>
                <a:schemeClr val="tx1"/>
              </a:solidFill>
              <a:effectLst/>
              <a:uLnTx/>
              <a:uFillTx/>
              <a:latin typeface="Trebuchet MS" pitchFamily="34" charset="0"/>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1200" b="0" i="0" u="none" strike="noStrike" kern="1200" cap="none" spc="0" normalizeH="0" baseline="0" noProof="0" dirty="0">
              <a:ln>
                <a:noFill/>
              </a:ln>
              <a:solidFill>
                <a:schemeClr val="tx1"/>
              </a:solidFill>
              <a:effectLst/>
              <a:uLnTx/>
              <a:uFillTx/>
              <a:latin typeface="Trebuchet MS" pitchFamily="34" charset="0"/>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1200" b="0" i="0" u="none" strike="noStrike" kern="1200" cap="none" spc="0" normalizeH="0" baseline="0" noProof="0" dirty="0">
              <a:ln>
                <a:noFill/>
              </a:ln>
              <a:solidFill>
                <a:schemeClr val="tx1"/>
              </a:solidFill>
              <a:effectLst/>
              <a:uLnTx/>
              <a:uFillTx/>
              <a:latin typeface="Trebuchet MS" pitchFamily="34" charset="0"/>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1600" b="0" i="0" u="sng" strike="noStrike" kern="1200" cap="none" spc="0" normalizeH="0" baseline="0" noProof="0" dirty="0">
              <a:ln>
                <a:noFill/>
              </a:ln>
              <a:solidFill>
                <a:schemeClr val="tx1"/>
              </a:solidFill>
              <a:effectLst/>
              <a:uLnTx/>
              <a:uFillTx/>
              <a:latin typeface="Trebuchet MS" pitchFamily="34" charset="0"/>
              <a:ea typeface="+mn-ea"/>
              <a:cs typeface="+mn-cs"/>
            </a:endParaRPr>
          </a:p>
        </p:txBody>
      </p:sp>
    </p:spTree>
  </p:cSld>
  <p:clrMapOvr>
    <a:masterClrMapping/>
  </p:clrMapOvr>
  <p:transition spd="med">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The Gettysburg Address</a:t>
            </a:r>
          </a:p>
        </p:txBody>
      </p:sp>
      <p:sp>
        <p:nvSpPr>
          <p:cNvPr id="3" name="Content Placeholder 2"/>
          <p:cNvSpPr>
            <a:spLocks noGrp="1"/>
          </p:cNvSpPr>
          <p:nvPr>
            <p:ph idx="1"/>
          </p:nvPr>
        </p:nvSpPr>
        <p:spPr/>
        <p:txBody>
          <a:bodyPr>
            <a:normAutofit/>
          </a:bodyPr>
          <a:lstStyle/>
          <a:p>
            <a:r>
              <a:rPr lang="en-US" sz="1600" dirty="0">
                <a:latin typeface="Trebuchet MS" pitchFamily="34" charset="0"/>
              </a:rPr>
              <a:t>Nearly a century later, during the midst of the Civil War, Abraham Lincoln delivered a speech that tied the Union’s battle back to our nation’s founding ideals…</a:t>
            </a:r>
            <a:endParaRPr lang="en-US" sz="1200" dirty="0">
              <a:latin typeface="Trebuchet MS" pitchFamily="34" charset="0"/>
            </a:endParaRPr>
          </a:p>
          <a:p>
            <a:endParaRPr lang="en-US" sz="1600" u="sng" dirty="0">
              <a:latin typeface="Trebuchet MS" pitchFamily="34" charset="0"/>
            </a:endParaRPr>
          </a:p>
        </p:txBody>
      </p:sp>
      <p:pic>
        <p:nvPicPr>
          <p:cNvPr id="4" name="Picture 3" descr="images.jpg"/>
          <p:cNvPicPr>
            <a:picLocks noChangeAspect="1"/>
          </p:cNvPicPr>
          <p:nvPr/>
        </p:nvPicPr>
        <p:blipFill>
          <a:blip r:embed="rId2" cstate="print"/>
          <a:stretch>
            <a:fillRect/>
          </a:stretch>
        </p:blipFill>
        <p:spPr>
          <a:xfrm>
            <a:off x="2660650" y="2419350"/>
            <a:ext cx="3822700" cy="2567316"/>
          </a:xfrm>
          <a:prstGeom prst="rect">
            <a:avLst/>
          </a:prstGeom>
        </p:spPr>
      </p:pic>
    </p:spTree>
  </p:cSld>
  <p:clrMapOvr>
    <a:masterClrMapping/>
  </p:clrMapOvr>
  <p:transition spd="med">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The Gettysburg Address</a:t>
            </a:r>
          </a:p>
        </p:txBody>
      </p:sp>
      <p:sp>
        <p:nvSpPr>
          <p:cNvPr id="3" name="Content Placeholder 2"/>
          <p:cNvSpPr>
            <a:spLocks noGrp="1"/>
          </p:cNvSpPr>
          <p:nvPr>
            <p:ph idx="1"/>
          </p:nvPr>
        </p:nvSpPr>
        <p:spPr/>
        <p:txBody>
          <a:bodyPr>
            <a:normAutofit/>
          </a:bodyPr>
          <a:lstStyle/>
          <a:p>
            <a:r>
              <a:rPr lang="en-US" sz="1600" dirty="0">
                <a:latin typeface="Trebuchet MS" pitchFamily="34" charset="0"/>
              </a:rPr>
              <a:t>Delivered to dedicate a military cemetery for Union soldiers during the Civil War.</a:t>
            </a:r>
          </a:p>
          <a:p>
            <a:r>
              <a:rPr lang="en-US" sz="1600" dirty="0">
                <a:latin typeface="Trebuchet MS" pitchFamily="34" charset="0"/>
              </a:rPr>
              <a:t>In the address, Lincoln alludes to the Declaration of Independence’s ideals of a nation where </a:t>
            </a:r>
            <a:r>
              <a:rPr lang="en-US" sz="1600" i="1" dirty="0">
                <a:latin typeface="Trebuchet MS" pitchFamily="34" charset="0"/>
              </a:rPr>
              <a:t>all men are created equal</a:t>
            </a:r>
            <a:r>
              <a:rPr lang="en-US" sz="1600" dirty="0">
                <a:latin typeface="Trebuchet MS" pitchFamily="34" charset="0"/>
              </a:rPr>
              <a:t>. </a:t>
            </a:r>
          </a:p>
          <a:p>
            <a:r>
              <a:rPr lang="en-US" sz="1600" dirty="0">
                <a:latin typeface="Trebuchet MS" pitchFamily="34" charset="0"/>
              </a:rPr>
              <a:t>Described the Civil War as a </a:t>
            </a:r>
            <a:r>
              <a:rPr lang="en-US" sz="1600" i="1" dirty="0">
                <a:latin typeface="Trebuchet MS" pitchFamily="34" charset="0"/>
              </a:rPr>
              <a:t>test</a:t>
            </a:r>
            <a:r>
              <a:rPr lang="en-US" sz="1600" dirty="0">
                <a:latin typeface="Trebuchet MS" pitchFamily="34" charset="0"/>
              </a:rPr>
              <a:t> of whether a nation founded on and dedicated to these ideals would survive.</a:t>
            </a:r>
          </a:p>
          <a:p>
            <a:r>
              <a:rPr lang="en-US" sz="1600" dirty="0">
                <a:latin typeface="Trebuchet MS" pitchFamily="34" charset="0"/>
              </a:rPr>
              <a:t>Called for a “new birth of freedom.”</a:t>
            </a:r>
          </a:p>
          <a:p>
            <a:r>
              <a:rPr lang="en-US" sz="1600" dirty="0">
                <a:latin typeface="Trebuchet MS" pitchFamily="34" charset="0"/>
              </a:rPr>
              <a:t>“The government of the people, by the people, for the people, shall not perish from the earth.”</a:t>
            </a:r>
            <a:endParaRPr lang="en-US" sz="1200" dirty="0">
              <a:latin typeface="Trebuchet MS" pitchFamily="34" charset="0"/>
            </a:endParaRPr>
          </a:p>
          <a:p>
            <a:endParaRPr lang="en-US" sz="1600" u="sng" dirty="0">
              <a:latin typeface="Trebuchet MS" pitchFamily="34" charset="0"/>
            </a:endParaRPr>
          </a:p>
        </p:txBody>
      </p:sp>
    </p:spTree>
  </p:cSld>
  <p:clrMapOvr>
    <a:masterClrMapping/>
  </p:clrMapOvr>
  <p:transition spd="med">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A1676-0F2F-6AD8-21AF-ABF62F54B4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1AEC84-8CFC-CA23-AB4F-CEC7C494D736}"/>
              </a:ext>
            </a:extLst>
          </p:cNvPr>
          <p:cNvSpPr>
            <a:spLocks noGrp="1"/>
          </p:cNvSpPr>
          <p:nvPr>
            <p:ph type="title"/>
          </p:nvPr>
        </p:nvSpPr>
        <p:spPr/>
        <p:txBody>
          <a:bodyPr/>
          <a:lstStyle/>
          <a:p>
            <a:pPr algn="l"/>
            <a:r>
              <a:rPr lang="en-US" dirty="0"/>
              <a:t>Key Takeaways</a:t>
            </a:r>
          </a:p>
        </p:txBody>
      </p:sp>
      <p:sp>
        <p:nvSpPr>
          <p:cNvPr id="3" name="Content Placeholder 2">
            <a:extLst>
              <a:ext uri="{FF2B5EF4-FFF2-40B4-BE49-F238E27FC236}">
                <a16:creationId xmlns:a16="http://schemas.microsoft.com/office/drawing/2014/main" id="{3E84BE13-832E-722E-4AD7-27D515B7AEB4}"/>
              </a:ext>
            </a:extLst>
          </p:cNvPr>
          <p:cNvSpPr>
            <a:spLocks noGrp="1"/>
          </p:cNvSpPr>
          <p:nvPr>
            <p:ph idx="1"/>
          </p:nvPr>
        </p:nvSpPr>
        <p:spPr/>
        <p:txBody>
          <a:bodyPr>
            <a:normAutofit/>
          </a:bodyPr>
          <a:lstStyle/>
          <a:p>
            <a:r>
              <a:rPr lang="en-US" sz="1600" dirty="0">
                <a:latin typeface="Trebuchet MS" pitchFamily="34" charset="0"/>
              </a:rPr>
              <a:t>The Gettysburg Address demonstrates the foundational ideals in the Declaration of Independence being put to the test.</a:t>
            </a:r>
          </a:p>
          <a:p>
            <a:r>
              <a:rPr lang="en-US" sz="1600" dirty="0">
                <a:latin typeface="Trebuchet MS" pitchFamily="34" charset="0"/>
              </a:rPr>
              <a:t>Lincoln reminds the audience of the ideals the nation was founded on, and advocates fighting for them. </a:t>
            </a:r>
            <a:endParaRPr lang="en-US" sz="1200" dirty="0">
              <a:latin typeface="Trebuchet MS" pitchFamily="34" charset="0"/>
            </a:endParaRPr>
          </a:p>
          <a:p>
            <a:endParaRPr lang="en-US" sz="1600" u="sng" dirty="0">
              <a:latin typeface="Trebuchet MS" pitchFamily="34" charset="0"/>
            </a:endParaRPr>
          </a:p>
        </p:txBody>
      </p:sp>
    </p:spTree>
    <p:extLst>
      <p:ext uri="{BB962C8B-B14F-4D97-AF65-F5344CB8AC3E}">
        <p14:creationId xmlns:p14="http://schemas.microsoft.com/office/powerpoint/2010/main" val="776260073"/>
      </p:ext>
    </p:extLst>
  </p:cSld>
  <p:clrMapOvr>
    <a:masterClrMapping/>
  </p:clrMapOvr>
  <p:transition spd="med">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4FCB32-9A5A-A26B-0489-BD02FF8652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E2B4F0-B1D7-1242-B974-DB756F874CE2}"/>
              </a:ext>
            </a:extLst>
          </p:cNvPr>
          <p:cNvSpPr>
            <a:spLocks noGrp="1"/>
          </p:cNvSpPr>
          <p:nvPr>
            <p:ph type="title"/>
          </p:nvPr>
        </p:nvSpPr>
        <p:spPr/>
        <p:txBody>
          <a:bodyPr/>
          <a:lstStyle/>
          <a:p>
            <a:pPr algn="l"/>
            <a:r>
              <a:rPr lang="en-US" dirty="0"/>
              <a:t>The Federalists vs. The Anti-Federalists</a:t>
            </a:r>
          </a:p>
        </p:txBody>
      </p:sp>
      <p:sp>
        <p:nvSpPr>
          <p:cNvPr id="3" name="Content Placeholder 2">
            <a:extLst>
              <a:ext uri="{FF2B5EF4-FFF2-40B4-BE49-F238E27FC236}">
                <a16:creationId xmlns:a16="http://schemas.microsoft.com/office/drawing/2014/main" id="{CEDBC574-2A01-58B9-7D35-CB49D9CCC50C}"/>
              </a:ext>
            </a:extLst>
          </p:cNvPr>
          <p:cNvSpPr>
            <a:spLocks noGrp="1"/>
          </p:cNvSpPr>
          <p:nvPr>
            <p:ph idx="1"/>
          </p:nvPr>
        </p:nvSpPr>
        <p:spPr/>
        <p:txBody>
          <a:bodyPr>
            <a:normAutofit/>
          </a:bodyPr>
          <a:lstStyle/>
          <a:p>
            <a:r>
              <a:rPr lang="en-US" sz="1600" dirty="0">
                <a:latin typeface="Trebuchet MS" pitchFamily="34" charset="0"/>
              </a:rPr>
              <a:t>Dissatisfaction with the Articles of Confederation led to a strong desire for reform within the American government…</a:t>
            </a:r>
          </a:p>
          <a:p>
            <a:pPr lvl="1"/>
            <a:endParaRPr lang="en-US" sz="1450" dirty="0">
              <a:latin typeface="Trebuchet MS" pitchFamily="34" charset="0"/>
            </a:endParaRPr>
          </a:p>
          <a:p>
            <a:endParaRPr lang="en-US" sz="1600" u="sng" dirty="0">
              <a:latin typeface="Trebuchet MS" pitchFamily="34" charset="0"/>
            </a:endParaRPr>
          </a:p>
        </p:txBody>
      </p:sp>
      <p:pic>
        <p:nvPicPr>
          <p:cNvPr id="5" name="Picture 4" descr="The image depicts a historical scene of a formal meeting or debate with dignitaries seated at a long table, under a window with curtains, and a backdrop of a decorated room with a desk and a chair.&#10;&#10;AI-generated content may be incorrect.">
            <a:extLst>
              <a:ext uri="{FF2B5EF4-FFF2-40B4-BE49-F238E27FC236}">
                <a16:creationId xmlns:a16="http://schemas.microsoft.com/office/drawing/2014/main" id="{FD1BD29E-0DBD-3866-E73B-EFCB71508C14}"/>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000375" y="2419350"/>
            <a:ext cx="3143250" cy="2057400"/>
          </a:xfrm>
          <a:prstGeom prst="rect">
            <a:avLst/>
          </a:prstGeom>
        </p:spPr>
      </p:pic>
    </p:spTree>
    <p:extLst>
      <p:ext uri="{BB962C8B-B14F-4D97-AF65-F5344CB8AC3E}">
        <p14:creationId xmlns:p14="http://schemas.microsoft.com/office/powerpoint/2010/main" val="2307420559"/>
      </p:ext>
    </p:extLst>
  </p:cSld>
  <p:clrMapOvr>
    <a:masterClrMapping/>
  </p:clrMapOvr>
  <p:transition spd="med">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890B2-7D77-A230-59B8-4A5BBDAA00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6208DE-5EDA-21D2-F0EC-410E50FBC8A1}"/>
              </a:ext>
            </a:extLst>
          </p:cNvPr>
          <p:cNvSpPr>
            <a:spLocks noGrp="1"/>
          </p:cNvSpPr>
          <p:nvPr>
            <p:ph type="title"/>
          </p:nvPr>
        </p:nvSpPr>
        <p:spPr/>
        <p:txBody>
          <a:bodyPr/>
          <a:lstStyle/>
          <a:p>
            <a:pPr algn="l"/>
            <a:r>
              <a:rPr lang="en-US" dirty="0"/>
              <a:t>Federalist No. 10</a:t>
            </a:r>
          </a:p>
        </p:txBody>
      </p:sp>
      <p:sp>
        <p:nvSpPr>
          <p:cNvPr id="3" name="Content Placeholder 2">
            <a:extLst>
              <a:ext uri="{FF2B5EF4-FFF2-40B4-BE49-F238E27FC236}">
                <a16:creationId xmlns:a16="http://schemas.microsoft.com/office/drawing/2014/main" id="{274BF812-73F8-05F8-CDF7-9A6DC337F026}"/>
              </a:ext>
            </a:extLst>
          </p:cNvPr>
          <p:cNvSpPr>
            <a:spLocks noGrp="1"/>
          </p:cNvSpPr>
          <p:nvPr>
            <p:ph idx="1"/>
          </p:nvPr>
        </p:nvSpPr>
        <p:spPr/>
        <p:txBody>
          <a:bodyPr>
            <a:normAutofit/>
          </a:bodyPr>
          <a:lstStyle/>
          <a:p>
            <a:r>
              <a:rPr lang="en-US" sz="1600" dirty="0">
                <a:latin typeface="Trebuchet MS" pitchFamily="34" charset="0"/>
              </a:rPr>
              <a:t>James Madison describes the problem of </a:t>
            </a:r>
            <a:r>
              <a:rPr lang="en-US" sz="1600" i="1" dirty="0">
                <a:latin typeface="Trebuchet MS" pitchFamily="34" charset="0"/>
              </a:rPr>
              <a:t>faction</a:t>
            </a:r>
            <a:r>
              <a:rPr lang="en-US" sz="1600" dirty="0">
                <a:latin typeface="Trebuchet MS" pitchFamily="34" charset="0"/>
              </a:rPr>
              <a:t>.</a:t>
            </a:r>
          </a:p>
          <a:p>
            <a:pPr lvl="1"/>
            <a:r>
              <a:rPr lang="en-US" sz="1450" dirty="0">
                <a:latin typeface="Trebuchet MS" pitchFamily="34" charset="0"/>
              </a:rPr>
              <a:t>A faction is an organized political group that opposes the rights of other citizens.</a:t>
            </a:r>
          </a:p>
          <a:p>
            <a:pPr lvl="1"/>
            <a:r>
              <a:rPr lang="en-US" sz="1450" dirty="0">
                <a:latin typeface="Trebuchet MS" pitchFamily="34" charset="0"/>
              </a:rPr>
              <a:t>Can lead to </a:t>
            </a:r>
            <a:r>
              <a:rPr lang="en-US" sz="1450" i="1" dirty="0">
                <a:latin typeface="Trebuchet MS" pitchFamily="34" charset="0"/>
              </a:rPr>
              <a:t>majoritarianism</a:t>
            </a:r>
            <a:r>
              <a:rPr lang="en-US" sz="1450" dirty="0">
                <a:latin typeface="Trebuchet MS" pitchFamily="34" charset="0"/>
              </a:rPr>
              <a:t> (one faction with a majority dominates and suppresses others)</a:t>
            </a:r>
          </a:p>
          <a:p>
            <a:r>
              <a:rPr lang="en-US" sz="1600" dirty="0">
                <a:latin typeface="Trebuchet MS" pitchFamily="34" charset="0"/>
              </a:rPr>
              <a:t>How to “cure” factions?</a:t>
            </a:r>
          </a:p>
          <a:p>
            <a:pPr lvl="1"/>
            <a:r>
              <a:rPr lang="en-US" sz="1450" dirty="0">
                <a:latin typeface="Trebuchet MS" pitchFamily="34" charset="0"/>
              </a:rPr>
              <a:t>Removing liberty (“the air to the fire”)</a:t>
            </a:r>
          </a:p>
          <a:p>
            <a:pPr lvl="1"/>
            <a:r>
              <a:rPr lang="en-US" sz="1450" dirty="0">
                <a:latin typeface="Trebuchet MS" pitchFamily="34" charset="0"/>
              </a:rPr>
              <a:t>Make everyone have the same interests, passions, and motives.</a:t>
            </a:r>
          </a:p>
          <a:p>
            <a:r>
              <a:rPr lang="en-US" sz="1600" dirty="0">
                <a:latin typeface="Trebuchet MS" pitchFamily="34" charset="0"/>
              </a:rPr>
              <a:t>The methods described above for curing factions are </a:t>
            </a:r>
            <a:r>
              <a:rPr lang="en-US" sz="1600" i="1" dirty="0">
                <a:latin typeface="Trebuchet MS" pitchFamily="34" charset="0"/>
              </a:rPr>
              <a:t>impossible</a:t>
            </a:r>
            <a:r>
              <a:rPr lang="en-US" sz="1600" dirty="0">
                <a:latin typeface="Trebuchet MS" pitchFamily="34" charset="0"/>
              </a:rPr>
              <a:t> and </a:t>
            </a:r>
            <a:r>
              <a:rPr lang="en-US" sz="1600" i="1" dirty="0">
                <a:latin typeface="Trebuchet MS" pitchFamily="34" charset="0"/>
              </a:rPr>
              <a:t>impractical</a:t>
            </a:r>
            <a:r>
              <a:rPr lang="en-US" sz="1600" dirty="0">
                <a:latin typeface="Trebuchet MS" pitchFamily="34" charset="0"/>
              </a:rPr>
              <a:t> in a nation where everyone is entitled to natural rights.</a:t>
            </a:r>
          </a:p>
          <a:p>
            <a:pPr lvl="1"/>
            <a:endParaRPr lang="en-US" sz="1450" dirty="0">
              <a:latin typeface="Trebuchet MS" pitchFamily="34" charset="0"/>
            </a:endParaRPr>
          </a:p>
          <a:p>
            <a:endParaRPr lang="en-US" sz="1600" u="sng" dirty="0">
              <a:latin typeface="Trebuchet MS" pitchFamily="34" charset="0"/>
            </a:endParaRPr>
          </a:p>
        </p:txBody>
      </p:sp>
    </p:spTree>
    <p:extLst>
      <p:ext uri="{BB962C8B-B14F-4D97-AF65-F5344CB8AC3E}">
        <p14:creationId xmlns:p14="http://schemas.microsoft.com/office/powerpoint/2010/main" val="4182484006"/>
      </p:ext>
    </p:extLst>
  </p:cSld>
  <p:clrMapOvr>
    <a:masterClrMapping/>
  </p:clrMapOvr>
  <p:transition spd="med">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93A2F-72FE-ED8B-1D4A-78333FE8AC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DB5E00-7732-631D-4436-C7DB300F2E0D}"/>
              </a:ext>
            </a:extLst>
          </p:cNvPr>
          <p:cNvSpPr>
            <a:spLocks noGrp="1"/>
          </p:cNvSpPr>
          <p:nvPr>
            <p:ph type="title"/>
          </p:nvPr>
        </p:nvSpPr>
        <p:spPr/>
        <p:txBody>
          <a:bodyPr/>
          <a:lstStyle/>
          <a:p>
            <a:pPr algn="l"/>
            <a:r>
              <a:rPr lang="en-US" dirty="0"/>
              <a:t>Federalist No. 10</a:t>
            </a:r>
          </a:p>
        </p:txBody>
      </p:sp>
      <p:sp>
        <p:nvSpPr>
          <p:cNvPr id="3" name="Content Placeholder 2">
            <a:extLst>
              <a:ext uri="{FF2B5EF4-FFF2-40B4-BE49-F238E27FC236}">
                <a16:creationId xmlns:a16="http://schemas.microsoft.com/office/drawing/2014/main" id="{22F2EA32-4336-C63A-D64C-20691ACE51AE}"/>
              </a:ext>
            </a:extLst>
          </p:cNvPr>
          <p:cNvSpPr>
            <a:spLocks noGrp="1"/>
          </p:cNvSpPr>
          <p:nvPr>
            <p:ph idx="1"/>
          </p:nvPr>
        </p:nvSpPr>
        <p:spPr/>
        <p:txBody>
          <a:bodyPr>
            <a:normAutofit/>
          </a:bodyPr>
          <a:lstStyle/>
          <a:p>
            <a:r>
              <a:rPr lang="en-US" sz="1600" dirty="0">
                <a:latin typeface="Trebuchet MS" pitchFamily="34" charset="0"/>
              </a:rPr>
              <a:t>Madison’s solution?</a:t>
            </a:r>
          </a:p>
          <a:p>
            <a:pPr marL="0" indent="0" algn="ctr">
              <a:buNone/>
            </a:pPr>
            <a:r>
              <a:rPr lang="en-US" sz="3600" b="1" dirty="0">
                <a:latin typeface="Trebuchet MS" pitchFamily="34" charset="0"/>
              </a:rPr>
              <a:t>A large federal republic!</a:t>
            </a:r>
          </a:p>
          <a:p>
            <a:r>
              <a:rPr lang="en-US" sz="1600" dirty="0">
                <a:latin typeface="Trebuchet MS" pitchFamily="34" charset="0"/>
              </a:rPr>
              <a:t>WHY?</a:t>
            </a:r>
          </a:p>
          <a:p>
            <a:pPr lvl="1"/>
            <a:r>
              <a:rPr lang="en-US" sz="1450" dirty="0">
                <a:latin typeface="Trebuchet MS" pitchFamily="34" charset="0"/>
              </a:rPr>
              <a:t>A large federal republic allows for a </a:t>
            </a:r>
            <a:r>
              <a:rPr lang="en-US" sz="1450" i="1" dirty="0">
                <a:latin typeface="Trebuchet MS" pitchFamily="34" charset="0"/>
              </a:rPr>
              <a:t>variety</a:t>
            </a:r>
            <a:r>
              <a:rPr lang="en-US" sz="1450" dirty="0">
                <a:latin typeface="Trebuchet MS" pitchFamily="34" charset="0"/>
              </a:rPr>
              <a:t> of political interests and factions, which prevents one faction from becoming too strong.</a:t>
            </a:r>
          </a:p>
          <a:p>
            <a:pPr lvl="1"/>
            <a:endParaRPr lang="en-US" sz="1450" dirty="0">
              <a:latin typeface="Trebuchet MS" pitchFamily="34" charset="0"/>
            </a:endParaRPr>
          </a:p>
          <a:p>
            <a:endParaRPr lang="en-US" sz="1600" dirty="0">
              <a:latin typeface="Trebuchet MS" pitchFamily="34" charset="0"/>
            </a:endParaRPr>
          </a:p>
          <a:p>
            <a:pPr lvl="1"/>
            <a:endParaRPr lang="en-US" sz="1450" dirty="0">
              <a:latin typeface="Trebuchet MS" pitchFamily="34" charset="0"/>
            </a:endParaRPr>
          </a:p>
          <a:p>
            <a:endParaRPr lang="en-US" sz="1600" u="sng" dirty="0">
              <a:latin typeface="Trebuchet MS" pitchFamily="34" charset="0"/>
            </a:endParaRPr>
          </a:p>
        </p:txBody>
      </p:sp>
    </p:spTree>
    <p:extLst>
      <p:ext uri="{BB962C8B-B14F-4D97-AF65-F5344CB8AC3E}">
        <p14:creationId xmlns:p14="http://schemas.microsoft.com/office/powerpoint/2010/main" val="137664827"/>
      </p:ext>
    </p:extLst>
  </p:cSld>
  <p:clrMapOvr>
    <a:masterClrMapping/>
  </p:clrMapOvr>
  <p:transition spd="med">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D455F-366E-CE85-71CC-ED49346EC8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A8A677-593A-2434-BB61-DB23D67B9F73}"/>
              </a:ext>
            </a:extLst>
          </p:cNvPr>
          <p:cNvSpPr>
            <a:spLocks noGrp="1"/>
          </p:cNvSpPr>
          <p:nvPr>
            <p:ph type="title"/>
          </p:nvPr>
        </p:nvSpPr>
        <p:spPr/>
        <p:txBody>
          <a:bodyPr/>
          <a:lstStyle/>
          <a:p>
            <a:pPr algn="l"/>
            <a:r>
              <a:rPr lang="en-US" dirty="0"/>
              <a:t>Federalist No. 51</a:t>
            </a:r>
          </a:p>
        </p:txBody>
      </p:sp>
      <p:sp>
        <p:nvSpPr>
          <p:cNvPr id="3" name="Content Placeholder 2">
            <a:extLst>
              <a:ext uri="{FF2B5EF4-FFF2-40B4-BE49-F238E27FC236}">
                <a16:creationId xmlns:a16="http://schemas.microsoft.com/office/drawing/2014/main" id="{5CA7DCB4-90CA-22B9-FF64-05C04A9825AD}"/>
              </a:ext>
            </a:extLst>
          </p:cNvPr>
          <p:cNvSpPr>
            <a:spLocks noGrp="1"/>
          </p:cNvSpPr>
          <p:nvPr>
            <p:ph idx="1"/>
          </p:nvPr>
        </p:nvSpPr>
        <p:spPr/>
        <p:txBody>
          <a:bodyPr>
            <a:normAutofit/>
          </a:bodyPr>
          <a:lstStyle/>
          <a:p>
            <a:r>
              <a:rPr lang="en-US" sz="1600" dirty="0">
                <a:latin typeface="Trebuchet MS" pitchFamily="34" charset="0"/>
              </a:rPr>
              <a:t>James Madison argues for a stronger federal government.</a:t>
            </a:r>
          </a:p>
          <a:p>
            <a:pPr lvl="1"/>
            <a:r>
              <a:rPr lang="en-US" sz="1450" dirty="0">
                <a:latin typeface="Trebuchet MS" pitchFamily="34" charset="0"/>
              </a:rPr>
              <a:t>If all humans were “angels”, there would be no need for government.</a:t>
            </a:r>
          </a:p>
          <a:p>
            <a:pPr lvl="1"/>
            <a:r>
              <a:rPr lang="en-US" sz="1450" dirty="0">
                <a:latin typeface="Trebuchet MS" pitchFamily="34" charset="0"/>
              </a:rPr>
              <a:t>If humans were governed by “angels”, there would be no need for a system of </a:t>
            </a:r>
            <a:r>
              <a:rPr lang="en-US" sz="1450" i="1" dirty="0">
                <a:latin typeface="Trebuchet MS" pitchFamily="34" charset="0"/>
              </a:rPr>
              <a:t>checks and balances</a:t>
            </a:r>
            <a:r>
              <a:rPr lang="en-US" sz="1450" dirty="0">
                <a:latin typeface="Trebuchet MS" pitchFamily="34" charset="0"/>
              </a:rPr>
              <a:t>.</a:t>
            </a:r>
          </a:p>
          <a:p>
            <a:r>
              <a:rPr lang="en-US" sz="1600" dirty="0">
                <a:latin typeface="Trebuchet MS" pitchFamily="34" charset="0"/>
              </a:rPr>
              <a:t>Madison proposes </a:t>
            </a:r>
            <a:r>
              <a:rPr lang="en-US" sz="1600" i="1" dirty="0">
                <a:latin typeface="Trebuchet MS" pitchFamily="34" charset="0"/>
              </a:rPr>
              <a:t>separation of powers</a:t>
            </a:r>
            <a:r>
              <a:rPr lang="en-US" sz="1600" dirty="0">
                <a:latin typeface="Trebuchet MS" pitchFamily="34" charset="0"/>
              </a:rPr>
              <a:t> and </a:t>
            </a:r>
            <a:r>
              <a:rPr lang="en-US" sz="1600" i="1" dirty="0">
                <a:latin typeface="Trebuchet MS" pitchFamily="34" charset="0"/>
              </a:rPr>
              <a:t>checks and balances</a:t>
            </a:r>
            <a:r>
              <a:rPr lang="en-US" sz="1600" dirty="0">
                <a:latin typeface="Trebuchet MS" pitchFamily="34" charset="0"/>
              </a:rPr>
              <a:t>.</a:t>
            </a:r>
          </a:p>
          <a:p>
            <a:pPr lvl="1"/>
            <a:r>
              <a:rPr lang="en-US" sz="1450" dirty="0">
                <a:latin typeface="Trebuchet MS" pitchFamily="34" charset="0"/>
              </a:rPr>
              <a:t>Legislative, judicial, and executive branches</a:t>
            </a:r>
          </a:p>
          <a:p>
            <a:pPr lvl="1"/>
            <a:r>
              <a:rPr lang="en-US" sz="1450" dirty="0">
                <a:latin typeface="Trebuchet MS" pitchFamily="34" charset="0"/>
              </a:rPr>
              <a:t>Each branch imposes limits on one another if a branch becomes too powerful.</a:t>
            </a:r>
          </a:p>
          <a:p>
            <a:pPr lvl="1"/>
            <a:r>
              <a:rPr lang="en-US" sz="1450" dirty="0">
                <a:latin typeface="Trebuchet MS" pitchFamily="34" charset="0"/>
              </a:rPr>
              <a:t>Legislative branch is </a:t>
            </a:r>
            <a:r>
              <a:rPr lang="en-US" sz="1450" i="1" dirty="0">
                <a:latin typeface="Trebuchet MS" pitchFamily="34" charset="0"/>
              </a:rPr>
              <a:t>inherently</a:t>
            </a:r>
            <a:r>
              <a:rPr lang="en-US" sz="1450" dirty="0">
                <a:latin typeface="Trebuchet MS" pitchFamily="34" charset="0"/>
              </a:rPr>
              <a:t> predominant, requiring additional limits.</a:t>
            </a:r>
          </a:p>
          <a:p>
            <a:pPr lvl="1"/>
            <a:endParaRPr lang="en-US" sz="1450" dirty="0">
              <a:latin typeface="Trebuchet MS" pitchFamily="34" charset="0"/>
            </a:endParaRPr>
          </a:p>
          <a:p>
            <a:endParaRPr lang="en-US" sz="1600" dirty="0">
              <a:latin typeface="Trebuchet MS" pitchFamily="34" charset="0"/>
            </a:endParaRPr>
          </a:p>
          <a:p>
            <a:pPr lvl="1"/>
            <a:endParaRPr lang="en-US" sz="1450" dirty="0">
              <a:latin typeface="Trebuchet MS" pitchFamily="34" charset="0"/>
            </a:endParaRPr>
          </a:p>
          <a:p>
            <a:endParaRPr lang="en-US" sz="1600" u="sng" dirty="0">
              <a:latin typeface="Trebuchet MS" pitchFamily="34" charset="0"/>
            </a:endParaRPr>
          </a:p>
        </p:txBody>
      </p:sp>
    </p:spTree>
    <p:extLst>
      <p:ext uri="{BB962C8B-B14F-4D97-AF65-F5344CB8AC3E}">
        <p14:creationId xmlns:p14="http://schemas.microsoft.com/office/powerpoint/2010/main" val="358055961"/>
      </p:ext>
    </p:extLst>
  </p:cSld>
  <p:clrMapOvr>
    <a:masterClrMapping/>
  </p:clrMapOvr>
  <p:transition spd="med">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4F54C-FF8E-6DCD-97B8-2264EF8CF7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DE323C-C110-732C-51F7-BAF94530DEF3}"/>
              </a:ext>
            </a:extLst>
          </p:cNvPr>
          <p:cNvSpPr>
            <a:spLocks noGrp="1"/>
          </p:cNvSpPr>
          <p:nvPr>
            <p:ph type="title"/>
          </p:nvPr>
        </p:nvSpPr>
        <p:spPr/>
        <p:txBody>
          <a:bodyPr/>
          <a:lstStyle/>
          <a:p>
            <a:pPr algn="l"/>
            <a:r>
              <a:rPr lang="en-US" dirty="0"/>
              <a:t>Brutus No. 1</a:t>
            </a:r>
          </a:p>
        </p:txBody>
      </p:sp>
      <p:sp>
        <p:nvSpPr>
          <p:cNvPr id="3" name="Content Placeholder 2">
            <a:extLst>
              <a:ext uri="{FF2B5EF4-FFF2-40B4-BE49-F238E27FC236}">
                <a16:creationId xmlns:a16="http://schemas.microsoft.com/office/drawing/2014/main" id="{55CD3ED4-A379-8370-874E-8AAD6D30261B}"/>
              </a:ext>
            </a:extLst>
          </p:cNvPr>
          <p:cNvSpPr>
            <a:spLocks noGrp="1"/>
          </p:cNvSpPr>
          <p:nvPr>
            <p:ph idx="1"/>
          </p:nvPr>
        </p:nvSpPr>
        <p:spPr/>
        <p:txBody>
          <a:bodyPr>
            <a:normAutofit/>
          </a:bodyPr>
          <a:lstStyle/>
          <a:p>
            <a:r>
              <a:rPr lang="en-US" sz="1600" dirty="0">
                <a:latin typeface="Trebuchet MS" pitchFamily="34" charset="0"/>
              </a:rPr>
              <a:t>Author acknowledges limitations of Articles of Confederation</a:t>
            </a:r>
          </a:p>
          <a:p>
            <a:r>
              <a:rPr lang="en-US" sz="1600" dirty="0">
                <a:latin typeface="Trebuchet MS" pitchFamily="34" charset="0"/>
              </a:rPr>
              <a:t>But… the Constitution is NOT the solution to these limitations.</a:t>
            </a:r>
          </a:p>
          <a:p>
            <a:r>
              <a:rPr lang="en-US" sz="1600" dirty="0">
                <a:latin typeface="Trebuchet MS" pitchFamily="34" charset="0"/>
              </a:rPr>
              <a:t>In a large nation, the Constitutional republic cannot represent the interests of its people.</a:t>
            </a:r>
          </a:p>
          <a:p>
            <a:r>
              <a:rPr lang="en-US" sz="1600" dirty="0">
                <a:latin typeface="Trebuchet MS" pitchFamily="34" charset="0"/>
              </a:rPr>
              <a:t>Necessary and proper clause</a:t>
            </a:r>
          </a:p>
          <a:p>
            <a:pPr lvl="1"/>
            <a:r>
              <a:rPr lang="en-US" sz="1450" dirty="0">
                <a:latin typeface="Trebuchet MS" pitchFamily="34" charset="0"/>
              </a:rPr>
              <a:t>Allows federal government to exercise unprecedented power over states and citizens.</a:t>
            </a:r>
          </a:p>
          <a:p>
            <a:r>
              <a:rPr lang="en-US" sz="1600" dirty="0">
                <a:latin typeface="Trebuchet MS" pitchFamily="34" charset="0"/>
              </a:rPr>
              <a:t>Commerce clause</a:t>
            </a:r>
          </a:p>
          <a:p>
            <a:pPr lvl="1"/>
            <a:r>
              <a:rPr lang="en-US" sz="1450" dirty="0">
                <a:latin typeface="Trebuchet MS" pitchFamily="34" charset="0"/>
              </a:rPr>
              <a:t>Destroys state sovereignty and gives central government unprecedented power.</a:t>
            </a:r>
          </a:p>
          <a:p>
            <a:pPr lvl="1"/>
            <a:endParaRPr lang="en-US" sz="1450" dirty="0">
              <a:latin typeface="Trebuchet MS" pitchFamily="34" charset="0"/>
            </a:endParaRPr>
          </a:p>
          <a:p>
            <a:endParaRPr lang="en-US" sz="1600" dirty="0">
              <a:latin typeface="Trebuchet MS" pitchFamily="34" charset="0"/>
            </a:endParaRPr>
          </a:p>
          <a:p>
            <a:pPr lvl="1"/>
            <a:endParaRPr lang="en-US" sz="1450" dirty="0">
              <a:latin typeface="Trebuchet MS" pitchFamily="34" charset="0"/>
            </a:endParaRPr>
          </a:p>
          <a:p>
            <a:endParaRPr lang="en-US" sz="1600" u="sng" dirty="0">
              <a:latin typeface="Trebuchet MS" pitchFamily="34" charset="0"/>
            </a:endParaRPr>
          </a:p>
        </p:txBody>
      </p:sp>
    </p:spTree>
    <p:extLst>
      <p:ext uri="{BB962C8B-B14F-4D97-AF65-F5344CB8AC3E}">
        <p14:creationId xmlns:p14="http://schemas.microsoft.com/office/powerpoint/2010/main" val="2383270368"/>
      </p:ext>
    </p:extLst>
  </p:cSld>
  <p:clrMapOvr>
    <a:masterClrMapping/>
  </p:clrMapOvr>
  <p:transition spd="med">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06BC3-7BBD-8105-524F-AB00800817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CB8BA4-CC3E-9A40-EAB4-BD580B560BC5}"/>
              </a:ext>
            </a:extLst>
          </p:cNvPr>
          <p:cNvSpPr>
            <a:spLocks noGrp="1"/>
          </p:cNvSpPr>
          <p:nvPr>
            <p:ph type="title"/>
          </p:nvPr>
        </p:nvSpPr>
        <p:spPr/>
        <p:txBody>
          <a:bodyPr/>
          <a:lstStyle/>
          <a:p>
            <a:pPr algn="l"/>
            <a:r>
              <a:rPr lang="en-US" dirty="0"/>
              <a:t>The Constitution</a:t>
            </a:r>
          </a:p>
        </p:txBody>
      </p:sp>
      <p:sp>
        <p:nvSpPr>
          <p:cNvPr id="3" name="Content Placeholder 2">
            <a:extLst>
              <a:ext uri="{FF2B5EF4-FFF2-40B4-BE49-F238E27FC236}">
                <a16:creationId xmlns:a16="http://schemas.microsoft.com/office/drawing/2014/main" id="{435EF95C-0FE0-6ABE-AA80-23DEC4245949}"/>
              </a:ext>
            </a:extLst>
          </p:cNvPr>
          <p:cNvSpPr>
            <a:spLocks noGrp="1"/>
          </p:cNvSpPr>
          <p:nvPr>
            <p:ph idx="1"/>
          </p:nvPr>
        </p:nvSpPr>
        <p:spPr/>
        <p:txBody>
          <a:bodyPr>
            <a:normAutofit/>
          </a:bodyPr>
          <a:lstStyle/>
          <a:p>
            <a:r>
              <a:rPr lang="en-US" sz="1600" dirty="0">
                <a:latin typeface="Trebuchet MS" pitchFamily="34" charset="0"/>
              </a:rPr>
              <a:t>The Federalists were triumphant, albeit with several compromises made to appeal to the Anti-Federalists…</a:t>
            </a:r>
            <a:endParaRPr lang="en-US" sz="1450" dirty="0">
              <a:latin typeface="Trebuchet MS" pitchFamily="34" charset="0"/>
            </a:endParaRPr>
          </a:p>
          <a:p>
            <a:pPr lvl="1"/>
            <a:endParaRPr lang="en-US" sz="1450" dirty="0">
              <a:latin typeface="Trebuchet MS" pitchFamily="34" charset="0"/>
            </a:endParaRPr>
          </a:p>
          <a:p>
            <a:endParaRPr lang="en-US" sz="1600" dirty="0">
              <a:latin typeface="Trebuchet MS" pitchFamily="34" charset="0"/>
            </a:endParaRPr>
          </a:p>
          <a:p>
            <a:pPr lvl="1"/>
            <a:endParaRPr lang="en-US" sz="1450" dirty="0">
              <a:latin typeface="Trebuchet MS" pitchFamily="34" charset="0"/>
            </a:endParaRPr>
          </a:p>
          <a:p>
            <a:endParaRPr lang="en-US" sz="1600" u="sng" dirty="0">
              <a:latin typeface="Trebuchet MS" pitchFamily="34" charset="0"/>
            </a:endParaRPr>
          </a:p>
        </p:txBody>
      </p:sp>
      <p:pic>
        <p:nvPicPr>
          <p:cNvPr id="4" name="Picture 3" descr="The Constitution of the United States | National Archives">
            <a:extLst>
              <a:ext uri="{FF2B5EF4-FFF2-40B4-BE49-F238E27FC236}">
                <a16:creationId xmlns:a16="http://schemas.microsoft.com/office/drawing/2014/main" id="{1FC5F618-4C50-6644-AB87-32B7AE616204}"/>
              </a:ext>
            </a:extLst>
          </p:cNvPr>
          <p:cNvPicPr>
            <a:picLocks noChangeAspect="1"/>
          </p:cNvPicPr>
          <p:nvPr/>
        </p:nvPicPr>
        <p:blipFill>
          <a:blip r:embed="rId2"/>
          <a:stretch>
            <a:fillRect/>
          </a:stretch>
        </p:blipFill>
        <p:spPr>
          <a:xfrm>
            <a:off x="3505957" y="2225155"/>
            <a:ext cx="2132085" cy="2578807"/>
          </a:xfrm>
          <a:prstGeom prst="rect">
            <a:avLst/>
          </a:prstGeom>
        </p:spPr>
      </p:pic>
    </p:spTree>
    <p:extLst>
      <p:ext uri="{BB962C8B-B14F-4D97-AF65-F5344CB8AC3E}">
        <p14:creationId xmlns:p14="http://schemas.microsoft.com/office/powerpoint/2010/main" val="955567021"/>
      </p:ext>
    </p:extLst>
  </p:cSld>
  <p:clrMapOvr>
    <a:masterClrMapping/>
  </p:clrMapOvr>
  <p:transition spd="med">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4ABD4-2B61-F7C0-6912-1E021D8AF6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FCB9B3-7845-EAA2-A7E0-50BC1498E06C}"/>
              </a:ext>
            </a:extLst>
          </p:cNvPr>
          <p:cNvSpPr>
            <a:spLocks noGrp="1"/>
          </p:cNvSpPr>
          <p:nvPr>
            <p:ph type="title"/>
          </p:nvPr>
        </p:nvSpPr>
        <p:spPr/>
        <p:txBody>
          <a:bodyPr/>
          <a:lstStyle/>
          <a:p>
            <a:pPr algn="l"/>
            <a:r>
              <a:rPr lang="en-US" dirty="0"/>
              <a:t>The Constitution</a:t>
            </a:r>
          </a:p>
        </p:txBody>
      </p:sp>
      <p:sp>
        <p:nvSpPr>
          <p:cNvPr id="3" name="Content Placeholder 2">
            <a:extLst>
              <a:ext uri="{FF2B5EF4-FFF2-40B4-BE49-F238E27FC236}">
                <a16:creationId xmlns:a16="http://schemas.microsoft.com/office/drawing/2014/main" id="{77E2B960-6535-7CDE-38C3-DB782EF7706A}"/>
              </a:ext>
            </a:extLst>
          </p:cNvPr>
          <p:cNvSpPr>
            <a:spLocks noGrp="1"/>
          </p:cNvSpPr>
          <p:nvPr>
            <p:ph idx="1"/>
          </p:nvPr>
        </p:nvSpPr>
        <p:spPr/>
        <p:txBody>
          <a:bodyPr>
            <a:normAutofit/>
          </a:bodyPr>
          <a:lstStyle/>
          <a:p>
            <a:r>
              <a:rPr lang="en-US" sz="1600" u="sng" dirty="0">
                <a:latin typeface="Trebuchet MS" pitchFamily="34" charset="0"/>
              </a:rPr>
              <a:t>Article I:</a:t>
            </a:r>
            <a:r>
              <a:rPr lang="en-US" sz="1600" dirty="0">
                <a:latin typeface="Trebuchet MS" pitchFamily="34" charset="0"/>
              </a:rPr>
              <a:t> Creates a bicameral legislature, establishes requirements for serving in the House of Representatives and Senate, lists expressed powers of Congress, and allows for implied powers </a:t>
            </a:r>
            <a:r>
              <a:rPr lang="en-US" sz="1600" i="1" dirty="0">
                <a:latin typeface="Trebuchet MS" pitchFamily="34" charset="0"/>
              </a:rPr>
              <a:t>(necessary and proper clause</a:t>
            </a:r>
            <a:r>
              <a:rPr lang="en-US" sz="1600" dirty="0">
                <a:latin typeface="Trebuchet MS" pitchFamily="34" charset="0"/>
              </a:rPr>
              <a:t>)</a:t>
            </a:r>
            <a:r>
              <a:rPr lang="en-US" sz="1600" i="1" dirty="0">
                <a:latin typeface="Trebuchet MS" pitchFamily="34" charset="0"/>
              </a:rPr>
              <a:t>.</a:t>
            </a:r>
          </a:p>
          <a:p>
            <a:r>
              <a:rPr lang="en-US" sz="1600" u="sng" dirty="0">
                <a:latin typeface="Trebuchet MS" pitchFamily="34" charset="0"/>
              </a:rPr>
              <a:t>Article II:</a:t>
            </a:r>
            <a:r>
              <a:rPr lang="en-US" sz="1600" dirty="0">
                <a:latin typeface="Trebuchet MS" pitchFamily="34" charset="0"/>
              </a:rPr>
              <a:t> Creates the presidency, establishes requirements for office, lists the expressed powers of the executive.</a:t>
            </a:r>
          </a:p>
          <a:p>
            <a:r>
              <a:rPr lang="en-US" sz="1600" u="sng" dirty="0">
                <a:latin typeface="Trebuchet MS" pitchFamily="34" charset="0"/>
              </a:rPr>
              <a:t>Article III:</a:t>
            </a:r>
            <a:r>
              <a:rPr lang="en-US" sz="1600" dirty="0">
                <a:latin typeface="Trebuchet MS" pitchFamily="34" charset="0"/>
              </a:rPr>
              <a:t> Creates a Supreme Court and provides that Congress may establish lower federal courts.</a:t>
            </a:r>
          </a:p>
          <a:p>
            <a:r>
              <a:rPr lang="en-US" sz="1600" u="sng" dirty="0">
                <a:latin typeface="Trebuchet MS" pitchFamily="34" charset="0"/>
              </a:rPr>
              <a:t>Article IV:</a:t>
            </a:r>
            <a:r>
              <a:rPr lang="en-US" sz="1600" dirty="0">
                <a:latin typeface="Trebuchet MS" pitchFamily="34" charset="0"/>
              </a:rPr>
              <a:t> Sets forth the relationship between states.</a:t>
            </a:r>
          </a:p>
          <a:p>
            <a:r>
              <a:rPr lang="en-US" sz="1600" u="sng" dirty="0">
                <a:latin typeface="Trebuchet MS" pitchFamily="34" charset="0"/>
              </a:rPr>
              <a:t>Article V:</a:t>
            </a:r>
            <a:r>
              <a:rPr lang="en-US" sz="1600" dirty="0">
                <a:latin typeface="Trebuchet MS" pitchFamily="34" charset="0"/>
              </a:rPr>
              <a:t> Establishes the process for amending the Constitution.</a:t>
            </a:r>
            <a:endParaRPr lang="en-US" sz="1450" u="sng" dirty="0">
              <a:latin typeface="Trebuchet MS" pitchFamily="34" charset="0"/>
            </a:endParaRPr>
          </a:p>
          <a:p>
            <a:pPr lvl="1"/>
            <a:endParaRPr lang="en-US" sz="1450" dirty="0">
              <a:latin typeface="Trebuchet MS" pitchFamily="34" charset="0"/>
            </a:endParaRPr>
          </a:p>
          <a:p>
            <a:endParaRPr lang="en-US" sz="1600" dirty="0">
              <a:latin typeface="Trebuchet MS" pitchFamily="34" charset="0"/>
            </a:endParaRPr>
          </a:p>
          <a:p>
            <a:pPr lvl="1"/>
            <a:endParaRPr lang="en-US" sz="1450" dirty="0">
              <a:latin typeface="Trebuchet MS" pitchFamily="34" charset="0"/>
            </a:endParaRPr>
          </a:p>
          <a:p>
            <a:endParaRPr lang="en-US" sz="1600" u="sng" dirty="0">
              <a:latin typeface="Trebuchet MS" pitchFamily="34" charset="0"/>
            </a:endParaRPr>
          </a:p>
        </p:txBody>
      </p:sp>
    </p:spTree>
    <p:extLst>
      <p:ext uri="{BB962C8B-B14F-4D97-AF65-F5344CB8AC3E}">
        <p14:creationId xmlns:p14="http://schemas.microsoft.com/office/powerpoint/2010/main" val="1262000845"/>
      </p:ext>
    </p:extLst>
  </p:cSld>
  <p:clrMapOvr>
    <a:masterClrMapping/>
  </p:clrMapOvr>
  <p:transition spd="med">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3BE26-58C5-2CDB-2654-C0B35019F2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474AA6-4345-D23E-50AF-D550881F5109}"/>
              </a:ext>
            </a:extLst>
          </p:cNvPr>
          <p:cNvSpPr>
            <a:spLocks noGrp="1"/>
          </p:cNvSpPr>
          <p:nvPr>
            <p:ph type="title"/>
          </p:nvPr>
        </p:nvSpPr>
        <p:spPr/>
        <p:txBody>
          <a:bodyPr/>
          <a:lstStyle/>
          <a:p>
            <a:pPr algn="l"/>
            <a:r>
              <a:rPr lang="en-US" dirty="0"/>
              <a:t>The Constitution</a:t>
            </a:r>
          </a:p>
        </p:txBody>
      </p:sp>
      <p:sp>
        <p:nvSpPr>
          <p:cNvPr id="3" name="Content Placeholder 2">
            <a:extLst>
              <a:ext uri="{FF2B5EF4-FFF2-40B4-BE49-F238E27FC236}">
                <a16:creationId xmlns:a16="http://schemas.microsoft.com/office/drawing/2014/main" id="{5F79821F-5346-6F25-DFE7-AC32D9BED693}"/>
              </a:ext>
            </a:extLst>
          </p:cNvPr>
          <p:cNvSpPr>
            <a:spLocks noGrp="1"/>
          </p:cNvSpPr>
          <p:nvPr>
            <p:ph idx="1"/>
          </p:nvPr>
        </p:nvSpPr>
        <p:spPr/>
        <p:txBody>
          <a:bodyPr>
            <a:normAutofit/>
          </a:bodyPr>
          <a:lstStyle/>
          <a:p>
            <a:r>
              <a:rPr lang="en-US" sz="1600" u="sng" dirty="0">
                <a:latin typeface="Trebuchet MS" pitchFamily="34" charset="0"/>
              </a:rPr>
              <a:t>Article VI:</a:t>
            </a:r>
            <a:r>
              <a:rPr lang="en-US" sz="1600" dirty="0">
                <a:latin typeface="Trebuchet MS" pitchFamily="34" charset="0"/>
              </a:rPr>
              <a:t> Establishes that the Constitution, federal laws, and treaties are the supreme law of the land (</a:t>
            </a:r>
            <a:r>
              <a:rPr lang="en-US" sz="1600" i="1" dirty="0">
                <a:latin typeface="Trebuchet MS" pitchFamily="34" charset="0"/>
              </a:rPr>
              <a:t>supremacy clause</a:t>
            </a:r>
            <a:r>
              <a:rPr lang="en-US" sz="1600" dirty="0">
                <a:latin typeface="Trebuchet MS" pitchFamily="34" charset="0"/>
              </a:rPr>
              <a:t>)</a:t>
            </a:r>
          </a:p>
          <a:p>
            <a:r>
              <a:rPr lang="en-US" sz="1600" u="sng" dirty="0">
                <a:latin typeface="Trebuchet MS" pitchFamily="34" charset="0"/>
              </a:rPr>
              <a:t>Article VII:</a:t>
            </a:r>
            <a:r>
              <a:rPr lang="en-US" sz="1600" dirty="0">
                <a:latin typeface="Trebuchet MS" pitchFamily="34" charset="0"/>
              </a:rPr>
              <a:t> Describes how the Constitution will be ratified.</a:t>
            </a:r>
            <a:endParaRPr lang="en-US" sz="1450" u="sng" dirty="0">
              <a:latin typeface="Trebuchet MS" pitchFamily="34" charset="0"/>
            </a:endParaRPr>
          </a:p>
          <a:p>
            <a:pPr lvl="1"/>
            <a:endParaRPr lang="en-US" sz="1450" dirty="0">
              <a:latin typeface="Trebuchet MS" pitchFamily="34" charset="0"/>
            </a:endParaRPr>
          </a:p>
          <a:p>
            <a:endParaRPr lang="en-US" sz="1600" dirty="0">
              <a:latin typeface="Trebuchet MS" pitchFamily="34" charset="0"/>
            </a:endParaRPr>
          </a:p>
          <a:p>
            <a:pPr lvl="1"/>
            <a:endParaRPr lang="en-US" sz="1450" dirty="0">
              <a:latin typeface="Trebuchet MS" pitchFamily="34" charset="0"/>
            </a:endParaRPr>
          </a:p>
          <a:p>
            <a:endParaRPr lang="en-US" sz="1600" u="sng" dirty="0">
              <a:latin typeface="Trebuchet MS" pitchFamily="34" charset="0"/>
            </a:endParaRPr>
          </a:p>
        </p:txBody>
      </p:sp>
    </p:spTree>
    <p:extLst>
      <p:ext uri="{BB962C8B-B14F-4D97-AF65-F5344CB8AC3E}">
        <p14:creationId xmlns:p14="http://schemas.microsoft.com/office/powerpoint/2010/main" val="2662510036"/>
      </p:ext>
    </p:extLst>
  </p:cSld>
  <p:clrMapOvr>
    <a:masterClrMapping/>
  </p:clrMapOvr>
  <p:transition spd="med">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31399-4D65-15B3-AF5F-C23E9E963E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EFF823-4B2F-66FF-61BB-3CEE97C39357}"/>
              </a:ext>
            </a:extLst>
          </p:cNvPr>
          <p:cNvSpPr>
            <a:spLocks noGrp="1"/>
          </p:cNvSpPr>
          <p:nvPr>
            <p:ph type="title"/>
          </p:nvPr>
        </p:nvSpPr>
        <p:spPr/>
        <p:txBody>
          <a:bodyPr/>
          <a:lstStyle/>
          <a:p>
            <a:pPr algn="l"/>
            <a:r>
              <a:rPr lang="en-US" dirty="0"/>
              <a:t>Constitutional Amendments</a:t>
            </a:r>
          </a:p>
        </p:txBody>
      </p:sp>
      <p:sp>
        <p:nvSpPr>
          <p:cNvPr id="3" name="Content Placeholder 2">
            <a:extLst>
              <a:ext uri="{FF2B5EF4-FFF2-40B4-BE49-F238E27FC236}">
                <a16:creationId xmlns:a16="http://schemas.microsoft.com/office/drawing/2014/main" id="{F1D67D71-AC28-8416-FA43-61A2208DE91C}"/>
              </a:ext>
            </a:extLst>
          </p:cNvPr>
          <p:cNvSpPr>
            <a:spLocks noGrp="1"/>
          </p:cNvSpPr>
          <p:nvPr>
            <p:ph idx="1"/>
          </p:nvPr>
        </p:nvSpPr>
        <p:spPr/>
        <p:txBody>
          <a:bodyPr>
            <a:normAutofit/>
          </a:bodyPr>
          <a:lstStyle/>
          <a:p>
            <a:r>
              <a:rPr lang="en-US" sz="1600" dirty="0">
                <a:latin typeface="Trebuchet MS" pitchFamily="34" charset="0"/>
              </a:rPr>
              <a:t>Below are key amendments to the United States Constitution you MUST know about for the AP® exam.</a:t>
            </a:r>
          </a:p>
          <a:p>
            <a:pPr lvl="1"/>
            <a:r>
              <a:rPr lang="en-US" sz="1450" u="sng" dirty="0">
                <a:latin typeface="Trebuchet MS" pitchFamily="34" charset="0"/>
              </a:rPr>
              <a:t>Amendment I:</a:t>
            </a:r>
            <a:r>
              <a:rPr lang="en-US" sz="1450" dirty="0">
                <a:latin typeface="Trebuchet MS" pitchFamily="34" charset="0"/>
              </a:rPr>
              <a:t> Congress cannot make any laws restricting freedom of speech or press.</a:t>
            </a:r>
          </a:p>
          <a:p>
            <a:pPr lvl="1"/>
            <a:r>
              <a:rPr lang="en-US" sz="1450" u="sng" dirty="0">
                <a:latin typeface="Trebuchet MS" pitchFamily="34" charset="0"/>
              </a:rPr>
              <a:t>Amendment II:</a:t>
            </a:r>
            <a:r>
              <a:rPr lang="en-US" sz="1450" dirty="0">
                <a:latin typeface="Trebuchet MS" pitchFamily="34" charset="0"/>
              </a:rPr>
              <a:t> The right for a “well regulated militia” to bear arms shall not be infringed.</a:t>
            </a:r>
          </a:p>
          <a:p>
            <a:pPr lvl="1"/>
            <a:r>
              <a:rPr lang="en-US" sz="1450" u="sng" dirty="0">
                <a:latin typeface="Trebuchet MS" pitchFamily="34" charset="0"/>
              </a:rPr>
              <a:t>Amendment IV:</a:t>
            </a:r>
            <a:r>
              <a:rPr lang="en-US" sz="1450" dirty="0">
                <a:latin typeface="Trebuchet MS" pitchFamily="34" charset="0"/>
              </a:rPr>
              <a:t> People are protected from unreasonable searches and seizures by the government.</a:t>
            </a:r>
          </a:p>
          <a:p>
            <a:pPr lvl="1"/>
            <a:r>
              <a:rPr lang="en-US" sz="1450" u="sng" dirty="0">
                <a:latin typeface="Trebuchet MS" pitchFamily="34" charset="0"/>
              </a:rPr>
              <a:t>Amendment X:</a:t>
            </a:r>
            <a:r>
              <a:rPr lang="en-US" sz="1450" dirty="0">
                <a:latin typeface="Trebuchet MS" pitchFamily="34" charset="0"/>
              </a:rPr>
              <a:t> Grants states powers not explicitly prohibited by the Constitution or exclusively reserved for the federal government.</a:t>
            </a:r>
            <a:endParaRPr lang="en-US" sz="1450" u="sng" dirty="0">
              <a:latin typeface="Trebuchet MS" pitchFamily="34" charset="0"/>
            </a:endParaRPr>
          </a:p>
          <a:p>
            <a:pPr lvl="1"/>
            <a:endParaRPr lang="en-US" sz="1450" dirty="0">
              <a:latin typeface="Trebuchet MS" pitchFamily="34" charset="0"/>
            </a:endParaRPr>
          </a:p>
          <a:p>
            <a:endParaRPr lang="en-US" sz="1600" dirty="0">
              <a:latin typeface="Trebuchet MS" pitchFamily="34" charset="0"/>
            </a:endParaRPr>
          </a:p>
          <a:p>
            <a:pPr lvl="1"/>
            <a:endParaRPr lang="en-US" sz="1450" dirty="0">
              <a:latin typeface="Trebuchet MS" pitchFamily="34" charset="0"/>
            </a:endParaRPr>
          </a:p>
          <a:p>
            <a:endParaRPr lang="en-US" sz="1600" u="sng" dirty="0">
              <a:latin typeface="Trebuchet MS" pitchFamily="34" charset="0"/>
            </a:endParaRPr>
          </a:p>
        </p:txBody>
      </p:sp>
    </p:spTree>
    <p:extLst>
      <p:ext uri="{BB962C8B-B14F-4D97-AF65-F5344CB8AC3E}">
        <p14:creationId xmlns:p14="http://schemas.microsoft.com/office/powerpoint/2010/main" val="129401927"/>
      </p:ext>
    </p:extLst>
  </p:cSld>
  <p:clrMapOvr>
    <a:masterClrMapping/>
  </p:clrMapOvr>
  <p:transition spd="med">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BF26DF-A800-5CB6-50EC-D8C7E2477A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DBCC28-019F-E2EB-BC5C-3469B2A21AB8}"/>
              </a:ext>
            </a:extLst>
          </p:cNvPr>
          <p:cNvSpPr>
            <a:spLocks noGrp="1"/>
          </p:cNvSpPr>
          <p:nvPr>
            <p:ph type="title"/>
          </p:nvPr>
        </p:nvSpPr>
        <p:spPr/>
        <p:txBody>
          <a:bodyPr/>
          <a:lstStyle/>
          <a:p>
            <a:pPr algn="l"/>
            <a:r>
              <a:rPr lang="en-US" dirty="0"/>
              <a:t>Constitutional Amendments</a:t>
            </a:r>
          </a:p>
        </p:txBody>
      </p:sp>
      <p:sp>
        <p:nvSpPr>
          <p:cNvPr id="3" name="Content Placeholder 2">
            <a:extLst>
              <a:ext uri="{FF2B5EF4-FFF2-40B4-BE49-F238E27FC236}">
                <a16:creationId xmlns:a16="http://schemas.microsoft.com/office/drawing/2014/main" id="{30F67C45-26A5-EFA4-18B3-C5A14591CB47}"/>
              </a:ext>
            </a:extLst>
          </p:cNvPr>
          <p:cNvSpPr>
            <a:spLocks noGrp="1"/>
          </p:cNvSpPr>
          <p:nvPr>
            <p:ph idx="1"/>
          </p:nvPr>
        </p:nvSpPr>
        <p:spPr/>
        <p:txBody>
          <a:bodyPr>
            <a:normAutofit/>
          </a:bodyPr>
          <a:lstStyle/>
          <a:p>
            <a:pPr lvl="1"/>
            <a:r>
              <a:rPr lang="en-US" sz="1450" u="sng" dirty="0">
                <a:latin typeface="Trebuchet MS" pitchFamily="34" charset="0"/>
              </a:rPr>
              <a:t>Amendment XIII:</a:t>
            </a:r>
            <a:r>
              <a:rPr lang="en-US" sz="1450" dirty="0">
                <a:latin typeface="Trebuchet MS" pitchFamily="34" charset="0"/>
              </a:rPr>
              <a:t> Abolished slavery and involuntary servitude nationwide except as a punishment for crime.</a:t>
            </a:r>
          </a:p>
          <a:p>
            <a:pPr lvl="1"/>
            <a:r>
              <a:rPr lang="en-US" sz="1450" u="sng" dirty="0">
                <a:latin typeface="Trebuchet MS" pitchFamily="34" charset="0"/>
              </a:rPr>
              <a:t>Amendment XIV:</a:t>
            </a:r>
            <a:r>
              <a:rPr lang="en-US" sz="1450" dirty="0">
                <a:latin typeface="Trebuchet MS" pitchFamily="34" charset="0"/>
              </a:rPr>
              <a:t> Defined national citizenship and provided each person equal protection under the law.</a:t>
            </a:r>
          </a:p>
          <a:p>
            <a:pPr lvl="1"/>
            <a:r>
              <a:rPr lang="en-US" sz="1450" u="sng" dirty="0">
                <a:latin typeface="Trebuchet MS" pitchFamily="34" charset="0"/>
              </a:rPr>
              <a:t>Amendment XIX:</a:t>
            </a:r>
            <a:r>
              <a:rPr lang="en-US" sz="1450" dirty="0">
                <a:latin typeface="Trebuchet MS" pitchFamily="34" charset="0"/>
              </a:rPr>
              <a:t> Guarantees that the right to vote in the United States cannot be denied on account of sex.</a:t>
            </a:r>
          </a:p>
          <a:p>
            <a:pPr lvl="1"/>
            <a:r>
              <a:rPr lang="en-US" sz="1450" u="sng" dirty="0">
                <a:latin typeface="Trebuchet MS" pitchFamily="34" charset="0"/>
              </a:rPr>
              <a:t>Amendment XXII:</a:t>
            </a:r>
            <a:r>
              <a:rPr lang="en-US" sz="1450" dirty="0">
                <a:latin typeface="Trebuchet MS" pitchFamily="34" charset="0"/>
              </a:rPr>
              <a:t> Limits an elected president to two presidential terms.</a:t>
            </a:r>
          </a:p>
          <a:p>
            <a:pPr lvl="1"/>
            <a:r>
              <a:rPr lang="en-US" sz="1450" u="sng" dirty="0">
                <a:latin typeface="Trebuchet MS" pitchFamily="34" charset="0"/>
              </a:rPr>
              <a:t>Amendment XXV:</a:t>
            </a:r>
            <a:r>
              <a:rPr lang="en-US" sz="1450" dirty="0">
                <a:latin typeface="Trebuchet MS" pitchFamily="34" charset="0"/>
              </a:rPr>
              <a:t> Sets the rules for presidential succession </a:t>
            </a:r>
            <a:r>
              <a:rPr lang="en-US" sz="1450">
                <a:latin typeface="Trebuchet MS" pitchFamily="34" charset="0"/>
              </a:rPr>
              <a:t>and disability.</a:t>
            </a:r>
            <a:endParaRPr lang="en-US" sz="1450" u="sng" dirty="0">
              <a:latin typeface="Trebuchet MS" pitchFamily="34" charset="0"/>
            </a:endParaRPr>
          </a:p>
          <a:p>
            <a:pPr lvl="1"/>
            <a:endParaRPr lang="en-US" sz="1450" dirty="0">
              <a:latin typeface="Trebuchet MS" pitchFamily="34" charset="0"/>
            </a:endParaRPr>
          </a:p>
          <a:p>
            <a:endParaRPr lang="en-US" sz="1600" dirty="0">
              <a:latin typeface="Trebuchet MS" pitchFamily="34" charset="0"/>
            </a:endParaRPr>
          </a:p>
          <a:p>
            <a:pPr lvl="1"/>
            <a:endParaRPr lang="en-US" sz="1450" dirty="0">
              <a:latin typeface="Trebuchet MS" pitchFamily="34" charset="0"/>
            </a:endParaRPr>
          </a:p>
          <a:p>
            <a:endParaRPr lang="en-US" sz="1600" u="sng" dirty="0">
              <a:latin typeface="Trebuchet MS" pitchFamily="34" charset="0"/>
            </a:endParaRPr>
          </a:p>
        </p:txBody>
      </p:sp>
    </p:spTree>
    <p:extLst>
      <p:ext uri="{BB962C8B-B14F-4D97-AF65-F5344CB8AC3E}">
        <p14:creationId xmlns:p14="http://schemas.microsoft.com/office/powerpoint/2010/main" val="3424267602"/>
      </p:ext>
    </p:extLst>
  </p:cSld>
  <p:clrMapOvr>
    <a:masterClrMapping/>
  </p:clrMapOvr>
  <p:transition spd="med">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2BBA-E6F4-C09F-61A4-AA9B5A8C94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2110A2-E29C-F069-81A1-1102FF439530}"/>
              </a:ext>
            </a:extLst>
          </p:cNvPr>
          <p:cNvSpPr>
            <a:spLocks noGrp="1"/>
          </p:cNvSpPr>
          <p:nvPr>
            <p:ph type="title"/>
          </p:nvPr>
        </p:nvSpPr>
        <p:spPr/>
        <p:txBody>
          <a:bodyPr/>
          <a:lstStyle/>
          <a:p>
            <a:pPr algn="l"/>
            <a:r>
              <a:rPr lang="en-US" dirty="0"/>
              <a:t>MCQ Practice</a:t>
            </a:r>
          </a:p>
        </p:txBody>
      </p:sp>
      <p:sp>
        <p:nvSpPr>
          <p:cNvPr id="3" name="Content Placeholder 2">
            <a:extLst>
              <a:ext uri="{FF2B5EF4-FFF2-40B4-BE49-F238E27FC236}">
                <a16:creationId xmlns:a16="http://schemas.microsoft.com/office/drawing/2014/main" id="{15819888-6B2A-DCBA-2750-B4A64F882C67}"/>
              </a:ext>
            </a:extLst>
          </p:cNvPr>
          <p:cNvSpPr>
            <a:spLocks noGrp="1"/>
          </p:cNvSpPr>
          <p:nvPr>
            <p:ph idx="1"/>
          </p:nvPr>
        </p:nvSpPr>
        <p:spPr/>
        <p:txBody>
          <a:bodyPr>
            <a:normAutofit/>
          </a:bodyPr>
          <a:lstStyle/>
          <a:p>
            <a:pPr marL="0" indent="0">
              <a:buNone/>
            </a:pPr>
            <a:r>
              <a:rPr lang="en-US" sz="1600" dirty="0">
                <a:latin typeface="Times New Roman" panose="02020603050405020304" pitchFamily="18" charset="0"/>
                <a:cs typeface="Times New Roman" panose="02020603050405020304" pitchFamily="18" charset="0"/>
              </a:rPr>
              <a:t>Which of the following is a correct comparison between the United States Constitution and the Articles of Confederation?</a:t>
            </a:r>
          </a:p>
          <a:p>
            <a:pPr marL="0" indent="0">
              <a:buNone/>
            </a:pPr>
            <a:endParaRPr lang="en-US" sz="1600" dirty="0">
              <a:latin typeface="Times New Roman" panose="02020603050405020304" pitchFamily="18" charset="0"/>
              <a:cs typeface="Times New Roman" panose="02020603050405020304" pitchFamily="18" charset="0"/>
            </a:endParaRPr>
          </a:p>
        </p:txBody>
      </p:sp>
      <p:sp>
        <p:nvSpPr>
          <p:cNvPr id="4" name="Octagon 3">
            <a:extLst>
              <a:ext uri="{FF2B5EF4-FFF2-40B4-BE49-F238E27FC236}">
                <a16:creationId xmlns:a16="http://schemas.microsoft.com/office/drawing/2014/main" id="{EBB0A9E3-53C8-3CFB-77AE-DBF66862235F}"/>
              </a:ext>
            </a:extLst>
          </p:cNvPr>
          <p:cNvSpPr/>
          <p:nvPr/>
        </p:nvSpPr>
        <p:spPr>
          <a:xfrm>
            <a:off x="7086600" y="2571750"/>
            <a:ext cx="1447800" cy="1447800"/>
          </a:xfrm>
          <a:prstGeom prst="octagon">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STOP</a:t>
            </a:r>
          </a:p>
        </p:txBody>
      </p:sp>
      <p:graphicFrame>
        <p:nvGraphicFramePr>
          <p:cNvPr id="6" name="Table 5">
            <a:extLst>
              <a:ext uri="{FF2B5EF4-FFF2-40B4-BE49-F238E27FC236}">
                <a16:creationId xmlns:a16="http://schemas.microsoft.com/office/drawing/2014/main" id="{C89E4AAE-6D08-82F3-51A7-D0F105D273C2}"/>
              </a:ext>
            </a:extLst>
          </p:cNvPr>
          <p:cNvGraphicFramePr>
            <a:graphicFrameLocks noGrp="1"/>
          </p:cNvGraphicFramePr>
          <p:nvPr>
            <p:extLst>
              <p:ext uri="{D42A27DB-BD31-4B8C-83A1-F6EECF244321}">
                <p14:modId xmlns:p14="http://schemas.microsoft.com/office/powerpoint/2010/main" val="2194377486"/>
              </p:ext>
            </p:extLst>
          </p:nvPr>
        </p:nvGraphicFramePr>
        <p:xfrm>
          <a:off x="821755" y="2368550"/>
          <a:ext cx="6096000" cy="2456180"/>
        </p:xfrm>
        <a:graphic>
          <a:graphicData uri="http://schemas.openxmlformats.org/drawingml/2006/table">
            <a:tbl>
              <a:tblPr firstRow="1" bandRow="1">
                <a:tableStyleId>{5940675A-B579-460E-94D1-54222C63F5DA}</a:tableStyleId>
              </a:tblPr>
              <a:tblGrid>
                <a:gridCol w="685800">
                  <a:extLst>
                    <a:ext uri="{9D8B030D-6E8A-4147-A177-3AD203B41FA5}">
                      <a16:colId xmlns:a16="http://schemas.microsoft.com/office/drawing/2014/main" val="962850226"/>
                    </a:ext>
                  </a:extLst>
                </a:gridCol>
                <a:gridCol w="2743200">
                  <a:extLst>
                    <a:ext uri="{9D8B030D-6E8A-4147-A177-3AD203B41FA5}">
                      <a16:colId xmlns:a16="http://schemas.microsoft.com/office/drawing/2014/main" val="633843908"/>
                    </a:ext>
                  </a:extLst>
                </a:gridCol>
                <a:gridCol w="2667000">
                  <a:extLst>
                    <a:ext uri="{9D8B030D-6E8A-4147-A177-3AD203B41FA5}">
                      <a16:colId xmlns:a16="http://schemas.microsoft.com/office/drawing/2014/main" val="3542585692"/>
                    </a:ext>
                  </a:extLst>
                </a:gridCol>
              </a:tblGrid>
              <a:tr h="370840">
                <a:tc>
                  <a:txBody>
                    <a:bodyPr/>
                    <a:lstStyle/>
                    <a:p>
                      <a:pPr algn="ct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United States Constitution</a:t>
                      </a:r>
                    </a:p>
                  </a:txBody>
                  <a:tcPr/>
                </a:tc>
                <a:tc>
                  <a:txBody>
                    <a:bodyPr/>
                    <a:lstStyle/>
                    <a:p>
                      <a:pPr algn="ctr"/>
                      <a:r>
                        <a:rPr lang="en-US" dirty="0">
                          <a:latin typeface="Times New Roman" panose="02020603050405020304" pitchFamily="18" charset="0"/>
                          <a:cs typeface="Times New Roman" panose="02020603050405020304" pitchFamily="18" charset="0"/>
                        </a:rPr>
                        <a:t>Articles of Confederation</a:t>
                      </a:r>
                    </a:p>
                  </a:txBody>
                  <a:tcPr/>
                </a:tc>
                <a:extLst>
                  <a:ext uri="{0D108BD9-81ED-4DB2-BD59-A6C34878D82A}">
                    <a16:rowId xmlns:a16="http://schemas.microsoft.com/office/drawing/2014/main" val="4072174131"/>
                  </a:ext>
                </a:extLst>
              </a:tr>
              <a:tr h="370840">
                <a:tc>
                  <a:txBody>
                    <a:bodyPr/>
                    <a:lstStyle/>
                    <a:p>
                      <a:pPr algn="ctr"/>
                      <a:r>
                        <a:rPr lang="en-US" dirty="0">
                          <a:latin typeface="Times New Roman" panose="02020603050405020304" pitchFamily="18" charset="0"/>
                          <a:cs typeface="Times New Roman" panose="02020603050405020304" pitchFamily="18" charset="0"/>
                        </a:rPr>
                        <a:t>(A) </a:t>
                      </a:r>
                    </a:p>
                  </a:txBody>
                  <a:tcPr/>
                </a:tc>
                <a:tc>
                  <a:txBody>
                    <a:bodyPr/>
                    <a:lstStyle/>
                    <a:p>
                      <a:pPr algn="ctr"/>
                      <a:r>
                        <a:rPr lang="en-US" dirty="0">
                          <a:latin typeface="Times New Roman" panose="02020603050405020304" pitchFamily="18" charset="0"/>
                          <a:cs typeface="Times New Roman" panose="02020603050405020304" pitchFamily="18" charset="0"/>
                        </a:rPr>
                        <a:t>Favored strong national government</a:t>
                      </a:r>
                    </a:p>
                  </a:txBody>
                  <a:tcPr/>
                </a:tc>
                <a:tc>
                  <a:txBody>
                    <a:bodyPr/>
                    <a:lstStyle/>
                    <a:p>
                      <a:pPr algn="ctr"/>
                      <a:r>
                        <a:rPr lang="en-US" dirty="0">
                          <a:latin typeface="Times New Roman" panose="02020603050405020304" pitchFamily="18" charset="0"/>
                          <a:cs typeface="Times New Roman" panose="02020603050405020304" pitchFamily="18" charset="0"/>
                        </a:rPr>
                        <a:t>Favored a federal system</a:t>
                      </a:r>
                    </a:p>
                  </a:txBody>
                  <a:tcPr/>
                </a:tc>
                <a:extLst>
                  <a:ext uri="{0D108BD9-81ED-4DB2-BD59-A6C34878D82A}">
                    <a16:rowId xmlns:a16="http://schemas.microsoft.com/office/drawing/2014/main" val="4075192944"/>
                  </a:ext>
                </a:extLst>
              </a:tr>
              <a:tr h="370840">
                <a:tc>
                  <a:txBody>
                    <a:bodyPr/>
                    <a:lstStyle/>
                    <a:p>
                      <a:pPr algn="ctr"/>
                      <a:r>
                        <a:rPr lang="en-US" dirty="0">
                          <a:latin typeface="Times New Roman" panose="02020603050405020304" pitchFamily="18" charset="0"/>
                          <a:cs typeface="Times New Roman" panose="02020603050405020304" pitchFamily="18" charset="0"/>
                        </a:rPr>
                        <a:t>(B) </a:t>
                      </a:r>
                    </a:p>
                  </a:txBody>
                  <a:tcPr/>
                </a:tc>
                <a:tc>
                  <a:txBody>
                    <a:bodyPr/>
                    <a:lstStyle/>
                    <a:p>
                      <a:pPr algn="ctr"/>
                      <a:r>
                        <a:rPr lang="en-US" dirty="0">
                          <a:latin typeface="Times New Roman" panose="02020603050405020304" pitchFamily="18" charset="0"/>
                          <a:cs typeface="Times New Roman" panose="02020603050405020304" pitchFamily="18" charset="0"/>
                        </a:rPr>
                        <a:t>Granted Congress the power to levy taxes</a:t>
                      </a:r>
                    </a:p>
                  </a:txBody>
                  <a:tcPr/>
                </a:tc>
                <a:tc>
                  <a:txBody>
                    <a:bodyPr/>
                    <a:lstStyle/>
                    <a:p>
                      <a:pPr algn="ctr"/>
                      <a:r>
                        <a:rPr lang="en-US" dirty="0">
                          <a:latin typeface="Times New Roman" panose="02020603050405020304" pitchFamily="18" charset="0"/>
                          <a:cs typeface="Times New Roman" panose="02020603050405020304" pitchFamily="18" charset="0"/>
                        </a:rPr>
                        <a:t>Granted states alone the power to levy taxes</a:t>
                      </a:r>
                    </a:p>
                  </a:txBody>
                  <a:tcPr/>
                </a:tc>
                <a:extLst>
                  <a:ext uri="{0D108BD9-81ED-4DB2-BD59-A6C34878D82A}">
                    <a16:rowId xmlns:a16="http://schemas.microsoft.com/office/drawing/2014/main" val="2912681425"/>
                  </a:ext>
                </a:extLst>
              </a:tr>
              <a:tr h="370840">
                <a:tc>
                  <a:txBody>
                    <a:bodyPr/>
                    <a:lstStyle/>
                    <a:p>
                      <a:pPr algn="ctr"/>
                      <a:r>
                        <a:rPr lang="en-US" dirty="0">
                          <a:latin typeface="Times New Roman" panose="02020603050405020304" pitchFamily="18" charset="0"/>
                          <a:cs typeface="Times New Roman" panose="02020603050405020304" pitchFamily="18" charset="0"/>
                        </a:rPr>
                        <a:t>(C) </a:t>
                      </a:r>
                    </a:p>
                  </a:txBody>
                  <a:tcPr/>
                </a:tc>
                <a:tc>
                  <a:txBody>
                    <a:bodyPr/>
                    <a:lstStyle/>
                    <a:p>
                      <a:pPr algn="ctr"/>
                      <a:r>
                        <a:rPr lang="en-US" dirty="0">
                          <a:latin typeface="Times New Roman" panose="02020603050405020304" pitchFamily="18" charset="0"/>
                          <a:cs typeface="Times New Roman" panose="02020603050405020304" pitchFamily="18" charset="0"/>
                        </a:rPr>
                        <a:t>Required approval by three-fourths of Congress for a constitutional amendment</a:t>
                      </a:r>
                    </a:p>
                  </a:txBody>
                  <a:tcPr/>
                </a:tc>
                <a:tc>
                  <a:txBody>
                    <a:bodyPr/>
                    <a:lstStyle/>
                    <a:p>
                      <a:pPr algn="ctr"/>
                      <a:r>
                        <a:rPr lang="en-US" dirty="0">
                          <a:latin typeface="Times New Roman" panose="02020603050405020304" pitchFamily="18" charset="0"/>
                          <a:cs typeface="Times New Roman" panose="02020603050405020304" pitchFamily="18" charset="0"/>
                        </a:rPr>
                        <a:t>Required unanimity of Congress to amend</a:t>
                      </a:r>
                    </a:p>
                  </a:txBody>
                  <a:tcPr/>
                </a:tc>
                <a:extLst>
                  <a:ext uri="{0D108BD9-81ED-4DB2-BD59-A6C34878D82A}">
                    <a16:rowId xmlns:a16="http://schemas.microsoft.com/office/drawing/2014/main" val="2133840707"/>
                  </a:ext>
                </a:extLst>
              </a:tr>
              <a:tr h="370840">
                <a:tc>
                  <a:txBody>
                    <a:bodyPr/>
                    <a:lstStyle/>
                    <a:p>
                      <a:pPr algn="ctr"/>
                      <a:r>
                        <a:rPr lang="en-US" dirty="0">
                          <a:latin typeface="Times New Roman" panose="02020603050405020304" pitchFamily="18" charset="0"/>
                          <a:cs typeface="Times New Roman" panose="02020603050405020304" pitchFamily="18" charset="0"/>
                        </a:rPr>
                        <a:t>(D) </a:t>
                      </a:r>
                    </a:p>
                  </a:txBody>
                  <a:tcPr/>
                </a:tc>
                <a:tc>
                  <a:txBody>
                    <a:bodyPr/>
                    <a:lstStyle/>
                    <a:p>
                      <a:pPr algn="ctr"/>
                      <a:r>
                        <a:rPr lang="en-US" dirty="0">
                          <a:latin typeface="Times New Roman" panose="02020603050405020304" pitchFamily="18" charset="0"/>
                          <a:cs typeface="Times New Roman" panose="02020603050405020304" pitchFamily="18" charset="0"/>
                        </a:rPr>
                        <a:t>Granted Congress the power to declare war</a:t>
                      </a:r>
                    </a:p>
                  </a:txBody>
                  <a:tcPr/>
                </a:tc>
                <a:tc>
                  <a:txBody>
                    <a:bodyPr/>
                    <a:lstStyle/>
                    <a:p>
                      <a:pPr algn="ctr"/>
                      <a:r>
                        <a:rPr lang="en-US" dirty="0">
                          <a:latin typeface="Times New Roman" panose="02020603050405020304" pitchFamily="18" charset="0"/>
                          <a:cs typeface="Times New Roman" panose="02020603050405020304" pitchFamily="18" charset="0"/>
                        </a:rPr>
                        <a:t>Granted Congress the power to regulate trade</a:t>
                      </a:r>
                    </a:p>
                  </a:txBody>
                  <a:tcPr/>
                </a:tc>
                <a:extLst>
                  <a:ext uri="{0D108BD9-81ED-4DB2-BD59-A6C34878D82A}">
                    <a16:rowId xmlns:a16="http://schemas.microsoft.com/office/drawing/2014/main" val="3483333347"/>
                  </a:ext>
                </a:extLst>
              </a:tr>
            </a:tbl>
          </a:graphicData>
        </a:graphic>
      </p:graphicFrame>
      <p:sp>
        <p:nvSpPr>
          <p:cNvPr id="7" name="Rectangle 6">
            <a:extLst>
              <a:ext uri="{FF2B5EF4-FFF2-40B4-BE49-F238E27FC236}">
                <a16:creationId xmlns:a16="http://schemas.microsoft.com/office/drawing/2014/main" id="{AD201D79-57D0-F9D9-2AF5-3CA45BB43452}"/>
              </a:ext>
            </a:extLst>
          </p:cNvPr>
          <p:cNvSpPr/>
          <p:nvPr/>
        </p:nvSpPr>
        <p:spPr>
          <a:xfrm>
            <a:off x="838943" y="3112994"/>
            <a:ext cx="6078812" cy="52555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00441134"/>
      </p:ext>
    </p:extLst>
  </p:cSld>
  <p:clrMapOvr>
    <a:masterClrMapping/>
  </p:clrMapOvr>
  <p:transition spd="med">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47A2B-0B69-C391-41FA-CD38C695FE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041511-CE59-7EC7-44F4-DE2B110DD215}"/>
              </a:ext>
            </a:extLst>
          </p:cNvPr>
          <p:cNvSpPr>
            <a:spLocks noGrp="1"/>
          </p:cNvSpPr>
          <p:nvPr>
            <p:ph type="title"/>
          </p:nvPr>
        </p:nvSpPr>
        <p:spPr/>
        <p:txBody>
          <a:bodyPr/>
          <a:lstStyle/>
          <a:p>
            <a:pPr algn="l"/>
            <a:r>
              <a:rPr lang="en-US" dirty="0"/>
              <a:t>Federalist No. 39</a:t>
            </a:r>
          </a:p>
        </p:txBody>
      </p:sp>
      <p:sp>
        <p:nvSpPr>
          <p:cNvPr id="3" name="Content Placeholder 2">
            <a:extLst>
              <a:ext uri="{FF2B5EF4-FFF2-40B4-BE49-F238E27FC236}">
                <a16:creationId xmlns:a16="http://schemas.microsoft.com/office/drawing/2014/main" id="{FB8AC019-E8D4-C352-81C6-8A33BCD2F821}"/>
              </a:ext>
            </a:extLst>
          </p:cNvPr>
          <p:cNvSpPr>
            <a:spLocks noGrp="1"/>
          </p:cNvSpPr>
          <p:nvPr>
            <p:ph idx="1"/>
          </p:nvPr>
        </p:nvSpPr>
        <p:spPr/>
        <p:txBody>
          <a:bodyPr>
            <a:normAutofit/>
          </a:bodyPr>
          <a:lstStyle/>
          <a:p>
            <a:r>
              <a:rPr lang="en-US" sz="1600" dirty="0">
                <a:latin typeface="Trebuchet MS" pitchFamily="34" charset="0"/>
              </a:rPr>
              <a:t>The Constitution establishes a </a:t>
            </a:r>
            <a:r>
              <a:rPr lang="en-US" sz="1600" i="1" dirty="0">
                <a:latin typeface="Trebuchet MS" pitchFamily="34" charset="0"/>
              </a:rPr>
              <a:t>republic</a:t>
            </a:r>
            <a:r>
              <a:rPr lang="en-US" sz="1600" dirty="0">
                <a:latin typeface="Trebuchet MS" pitchFamily="34" charset="0"/>
              </a:rPr>
              <a:t> because the people elect representatives to create and administer laws.</a:t>
            </a:r>
          </a:p>
          <a:p>
            <a:r>
              <a:rPr lang="en-US" sz="1600" dirty="0">
                <a:latin typeface="Trebuchet MS" pitchFamily="34" charset="0"/>
              </a:rPr>
              <a:t>The Constitution establishes both a </a:t>
            </a:r>
            <a:r>
              <a:rPr lang="en-US" sz="1600" i="1" dirty="0">
                <a:latin typeface="Trebuchet MS" pitchFamily="34" charset="0"/>
              </a:rPr>
              <a:t>federal</a:t>
            </a:r>
            <a:r>
              <a:rPr lang="en-US" sz="1600" dirty="0">
                <a:latin typeface="Trebuchet MS" pitchFamily="34" charset="0"/>
              </a:rPr>
              <a:t> and </a:t>
            </a:r>
            <a:r>
              <a:rPr lang="en-US" sz="1600" i="1" dirty="0">
                <a:latin typeface="Trebuchet MS" pitchFamily="34" charset="0"/>
              </a:rPr>
              <a:t>national</a:t>
            </a:r>
            <a:r>
              <a:rPr lang="en-US" sz="1600" dirty="0">
                <a:latin typeface="Trebuchet MS" pitchFamily="34" charset="0"/>
              </a:rPr>
              <a:t> government.</a:t>
            </a:r>
          </a:p>
          <a:p>
            <a:pPr lvl="1"/>
            <a:r>
              <a:rPr lang="en-US" sz="1450" dirty="0">
                <a:latin typeface="Trebuchet MS" pitchFamily="34" charset="0"/>
              </a:rPr>
              <a:t>Ratification of the Constitution is dependent on three-fourths of state legislatures approving it </a:t>
            </a:r>
            <a:r>
              <a:rPr lang="en-US" sz="1450" dirty="0">
                <a:latin typeface="Trebuchet MS" pitchFamily="34" charset="0"/>
                <a:sym typeface="Wingdings" panose="05000000000000000000" pitchFamily="2" charset="2"/>
              </a:rPr>
              <a:t> </a:t>
            </a:r>
            <a:r>
              <a:rPr lang="en-US" sz="1450" i="1" dirty="0">
                <a:latin typeface="Trebuchet MS" pitchFamily="34" charset="0"/>
                <a:sym typeface="Wingdings" panose="05000000000000000000" pitchFamily="2" charset="2"/>
              </a:rPr>
              <a:t>federal</a:t>
            </a:r>
            <a:endParaRPr lang="en-US" sz="1450" dirty="0">
              <a:latin typeface="Trebuchet MS" pitchFamily="34" charset="0"/>
              <a:sym typeface="Wingdings" panose="05000000000000000000" pitchFamily="2" charset="2"/>
            </a:endParaRPr>
          </a:p>
          <a:p>
            <a:pPr lvl="1"/>
            <a:r>
              <a:rPr lang="en-US" sz="1450" dirty="0">
                <a:latin typeface="Trebuchet MS" pitchFamily="34" charset="0"/>
                <a:sym typeface="Wingdings" panose="05000000000000000000" pitchFamily="2" charset="2"/>
              </a:rPr>
              <a:t>House of Representatives are directly elected by the people  national</a:t>
            </a:r>
            <a:endParaRPr lang="en-US" sz="1450" dirty="0">
              <a:latin typeface="Trebuchet MS" pitchFamily="34" charset="0"/>
            </a:endParaRPr>
          </a:p>
          <a:p>
            <a:endParaRPr lang="en-US" sz="1600" dirty="0">
              <a:latin typeface="Trebuchet MS" pitchFamily="34" charset="0"/>
            </a:endParaRPr>
          </a:p>
          <a:p>
            <a:pPr lvl="1"/>
            <a:endParaRPr lang="en-US" sz="1450" dirty="0">
              <a:latin typeface="Trebuchet MS" pitchFamily="34" charset="0"/>
            </a:endParaRPr>
          </a:p>
          <a:p>
            <a:endParaRPr lang="en-US" sz="1600" u="sng" dirty="0">
              <a:latin typeface="Trebuchet MS" pitchFamily="34" charset="0"/>
            </a:endParaRPr>
          </a:p>
        </p:txBody>
      </p:sp>
    </p:spTree>
    <p:extLst>
      <p:ext uri="{BB962C8B-B14F-4D97-AF65-F5344CB8AC3E}">
        <p14:creationId xmlns:p14="http://schemas.microsoft.com/office/powerpoint/2010/main" val="39585726"/>
      </p:ext>
    </p:extLst>
  </p:cSld>
  <p:clrMapOvr>
    <a:masterClrMapping/>
  </p:clrMapOvr>
  <p:transition spd="med">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18D3D-725A-F4B8-C860-768549AE2B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16B90A-3FC0-9047-0958-51FDCC5AFA5F}"/>
              </a:ext>
            </a:extLst>
          </p:cNvPr>
          <p:cNvSpPr>
            <a:spLocks noGrp="1"/>
          </p:cNvSpPr>
          <p:nvPr>
            <p:ph type="ctrTitle"/>
          </p:nvPr>
        </p:nvSpPr>
        <p:spPr/>
        <p:txBody>
          <a:bodyPr/>
          <a:lstStyle/>
          <a:p>
            <a:pPr algn="l"/>
            <a:r>
              <a:rPr lang="en-US" dirty="0"/>
              <a:t>Unit 1 SCOTUS cases</a:t>
            </a:r>
          </a:p>
        </p:txBody>
      </p:sp>
      <p:sp>
        <p:nvSpPr>
          <p:cNvPr id="3" name="Content Placeholder 2">
            <a:extLst>
              <a:ext uri="{FF2B5EF4-FFF2-40B4-BE49-F238E27FC236}">
                <a16:creationId xmlns:a16="http://schemas.microsoft.com/office/drawing/2014/main" id="{1A447398-AB27-716D-9C89-B728B5AA731A}"/>
              </a:ext>
            </a:extLst>
          </p:cNvPr>
          <p:cNvSpPr>
            <a:spLocks noGrp="1"/>
          </p:cNvSpPr>
          <p:nvPr>
            <p:ph type="subTitle" idx="1"/>
          </p:nvPr>
        </p:nvSpPr>
        <p:spPr/>
        <p:txBody>
          <a:bodyPr>
            <a:normAutofit/>
          </a:bodyPr>
          <a:lstStyle/>
          <a:p>
            <a:r>
              <a:rPr lang="en-US" sz="1600" dirty="0">
                <a:latin typeface="Trebuchet MS" pitchFamily="34" charset="0"/>
              </a:rPr>
              <a:t>Marbury v. Madison, McCulloch v. Maryland, united states v. Lopez</a:t>
            </a:r>
          </a:p>
          <a:p>
            <a:pPr lvl="1"/>
            <a:endParaRPr lang="en-US" sz="1450" dirty="0">
              <a:latin typeface="Trebuchet MS" pitchFamily="34" charset="0"/>
            </a:endParaRPr>
          </a:p>
          <a:p>
            <a:endParaRPr lang="en-US" sz="1600" u="sng" dirty="0">
              <a:latin typeface="Trebuchet MS" pitchFamily="34" charset="0"/>
            </a:endParaRPr>
          </a:p>
        </p:txBody>
      </p:sp>
    </p:spTree>
    <p:extLst>
      <p:ext uri="{BB962C8B-B14F-4D97-AF65-F5344CB8AC3E}">
        <p14:creationId xmlns:p14="http://schemas.microsoft.com/office/powerpoint/2010/main" val="1978659138"/>
      </p:ext>
    </p:extLst>
  </p:cSld>
  <p:clrMapOvr>
    <a:masterClrMapping/>
  </p:clrMapOvr>
  <p:transition spd="med">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B4612-5A4E-728B-D55E-7799A7DCE2CF}"/>
              </a:ext>
            </a:extLst>
          </p:cNvPr>
          <p:cNvSpPr>
            <a:spLocks noGrp="1"/>
          </p:cNvSpPr>
          <p:nvPr>
            <p:ph type="title"/>
          </p:nvPr>
        </p:nvSpPr>
        <p:spPr/>
        <p:txBody>
          <a:bodyPr/>
          <a:lstStyle/>
          <a:p>
            <a:r>
              <a:rPr lang="en-US" i="1" dirty="0"/>
              <a:t>Marbury v. Madison</a:t>
            </a:r>
          </a:p>
        </p:txBody>
      </p:sp>
      <p:sp>
        <p:nvSpPr>
          <p:cNvPr id="3" name="Content Placeholder 2">
            <a:extLst>
              <a:ext uri="{FF2B5EF4-FFF2-40B4-BE49-F238E27FC236}">
                <a16:creationId xmlns:a16="http://schemas.microsoft.com/office/drawing/2014/main" id="{5F0617DB-0F1B-99F8-C90E-97984DD08997}"/>
              </a:ext>
            </a:extLst>
          </p:cNvPr>
          <p:cNvSpPr>
            <a:spLocks noGrp="1"/>
          </p:cNvSpPr>
          <p:nvPr>
            <p:ph idx="1"/>
          </p:nvPr>
        </p:nvSpPr>
        <p:spPr/>
        <p:txBody>
          <a:bodyPr/>
          <a:lstStyle/>
          <a:p>
            <a:r>
              <a:rPr lang="en-US" b="1" u="sng" dirty="0">
                <a:latin typeface="Trebuchet MS" panose="020B0603020202020204" pitchFamily="34" charset="0"/>
              </a:rPr>
              <a:t>Facts of the case:</a:t>
            </a:r>
            <a:r>
              <a:rPr lang="en-US" dirty="0">
                <a:latin typeface="Trebuchet MS" panose="020B0603020202020204" pitchFamily="34" charset="0"/>
              </a:rPr>
              <a:t> Marbury attempted to sue SCOTUS into delivering his commission, which Thomas Jefferson instructed his Secretary of State James Madison </a:t>
            </a:r>
            <a:r>
              <a:rPr lang="en-US" i="1" dirty="0">
                <a:latin typeface="Trebuchet MS" panose="020B0603020202020204" pitchFamily="34" charset="0"/>
              </a:rPr>
              <a:t>not</a:t>
            </a:r>
            <a:r>
              <a:rPr lang="en-US" dirty="0">
                <a:latin typeface="Trebuchet MS" panose="020B0603020202020204" pitchFamily="34" charset="0"/>
              </a:rPr>
              <a:t> to hand it over.</a:t>
            </a:r>
          </a:p>
          <a:p>
            <a:r>
              <a:rPr lang="en-US" b="1" u="sng" dirty="0">
                <a:latin typeface="Trebuchet MS" panose="020B0603020202020204" pitchFamily="34" charset="0"/>
              </a:rPr>
              <a:t>Holding:</a:t>
            </a:r>
            <a:r>
              <a:rPr lang="en-US" dirty="0">
                <a:latin typeface="Trebuchet MS" panose="020B0603020202020204" pitchFamily="34" charset="0"/>
              </a:rPr>
              <a:t> SCOTUS ruled that although Marbury had a legal right to the commission, the Judiciary Act that Marbury utilized for the case was </a:t>
            </a:r>
            <a:r>
              <a:rPr lang="en-US" i="1" dirty="0">
                <a:latin typeface="Trebuchet MS" panose="020B0603020202020204" pitchFamily="34" charset="0"/>
              </a:rPr>
              <a:t>unconstitutional</a:t>
            </a:r>
            <a:r>
              <a:rPr lang="en-US" dirty="0">
                <a:latin typeface="Trebuchet MS" panose="020B0603020202020204" pitchFamily="34" charset="0"/>
              </a:rPr>
              <a:t> because it expanded the court’s original jurisdiction beyond what Article III of the Constitution allowed.</a:t>
            </a:r>
            <a:r>
              <a:rPr lang="en-US" b="1" u="sng" dirty="0">
                <a:latin typeface="Trebuchet MS" panose="020B0603020202020204" pitchFamily="34" charset="0"/>
              </a:rPr>
              <a:t> </a:t>
            </a:r>
          </a:p>
          <a:p>
            <a:r>
              <a:rPr lang="en-US" b="1" u="sng" dirty="0">
                <a:latin typeface="Trebuchet MS" panose="020B0603020202020204" pitchFamily="34" charset="0"/>
              </a:rPr>
              <a:t>Significance:</a:t>
            </a:r>
            <a:r>
              <a:rPr lang="en-US" dirty="0">
                <a:latin typeface="Trebuchet MS" panose="020B0603020202020204" pitchFamily="34" charset="0"/>
              </a:rPr>
              <a:t> Because the ruling declared an act of Congress void, the case established the principle of </a:t>
            </a:r>
            <a:r>
              <a:rPr lang="en-US" i="1" dirty="0">
                <a:latin typeface="Trebuchet MS" panose="020B0603020202020204" pitchFamily="34" charset="0"/>
              </a:rPr>
              <a:t>judiciary review</a:t>
            </a:r>
            <a:r>
              <a:rPr lang="en-US" dirty="0">
                <a:latin typeface="Trebuchet MS" panose="020B0603020202020204" pitchFamily="34" charset="0"/>
              </a:rPr>
              <a:t>.</a:t>
            </a:r>
            <a:endParaRPr lang="en-US" b="1" u="sng" dirty="0">
              <a:latin typeface="Trebuchet MS" panose="020B0603020202020204" pitchFamily="34" charset="0"/>
            </a:endParaRPr>
          </a:p>
        </p:txBody>
      </p:sp>
    </p:spTree>
    <p:extLst>
      <p:ext uri="{BB962C8B-B14F-4D97-AF65-F5344CB8AC3E}">
        <p14:creationId xmlns:p14="http://schemas.microsoft.com/office/powerpoint/2010/main" val="978313073"/>
      </p:ext>
    </p:extLst>
  </p:cSld>
  <p:clrMapOvr>
    <a:masterClrMapping/>
  </p:clrMapOvr>
  <p:transition spd="med">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4DFFD-0775-0E1A-1DFA-C4986F2439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630A2C-BF1E-C343-BDEA-C1EA77340511}"/>
              </a:ext>
            </a:extLst>
          </p:cNvPr>
          <p:cNvSpPr>
            <a:spLocks noGrp="1"/>
          </p:cNvSpPr>
          <p:nvPr>
            <p:ph type="title"/>
          </p:nvPr>
        </p:nvSpPr>
        <p:spPr/>
        <p:txBody>
          <a:bodyPr/>
          <a:lstStyle/>
          <a:p>
            <a:r>
              <a:rPr lang="en-US" i="1" dirty="0"/>
              <a:t>McCulloch v. Maryland</a:t>
            </a:r>
          </a:p>
        </p:txBody>
      </p:sp>
      <p:sp>
        <p:nvSpPr>
          <p:cNvPr id="3" name="Content Placeholder 2">
            <a:extLst>
              <a:ext uri="{FF2B5EF4-FFF2-40B4-BE49-F238E27FC236}">
                <a16:creationId xmlns:a16="http://schemas.microsoft.com/office/drawing/2014/main" id="{4F5FCBB4-0950-A6F3-BC1C-B80ECB2E4BA9}"/>
              </a:ext>
            </a:extLst>
          </p:cNvPr>
          <p:cNvSpPr>
            <a:spLocks noGrp="1"/>
          </p:cNvSpPr>
          <p:nvPr>
            <p:ph idx="1"/>
          </p:nvPr>
        </p:nvSpPr>
        <p:spPr/>
        <p:txBody>
          <a:bodyPr>
            <a:normAutofit lnSpcReduction="10000"/>
          </a:bodyPr>
          <a:lstStyle/>
          <a:p>
            <a:r>
              <a:rPr lang="en-US" b="1" u="sng" dirty="0">
                <a:latin typeface="Trebuchet MS" panose="020B0603020202020204" pitchFamily="34" charset="0"/>
              </a:rPr>
              <a:t>Facts of the case:</a:t>
            </a:r>
            <a:r>
              <a:rPr lang="en-US" dirty="0">
                <a:latin typeface="Trebuchet MS" panose="020B0603020202020204" pitchFamily="34" charset="0"/>
              </a:rPr>
              <a:t> Congress chartered the Second Bank of the United States in 1816. In 1818, Maryland passed legislation to tax the bank. James McCulloch, the cashier of the Baltimore branch of the bank, refused to pay the taxes. Maryland’s appeals court asserted that the Second Bank was unconstitutional because the Constitution did not </a:t>
            </a:r>
            <a:r>
              <a:rPr lang="en-US" i="1" dirty="0">
                <a:latin typeface="Trebuchet MS" panose="020B0603020202020204" pitchFamily="34" charset="0"/>
              </a:rPr>
              <a:t>explicitly</a:t>
            </a:r>
            <a:r>
              <a:rPr lang="en-US" dirty="0">
                <a:latin typeface="Trebuchet MS" panose="020B0603020202020204" pitchFamily="34" charset="0"/>
              </a:rPr>
              <a:t> allow the federal government to charter a bank.</a:t>
            </a:r>
          </a:p>
          <a:p>
            <a:r>
              <a:rPr lang="en-US" b="1" u="sng" dirty="0">
                <a:latin typeface="Trebuchet MS" panose="020B0603020202020204" pitchFamily="34" charset="0"/>
              </a:rPr>
              <a:t>Holding:</a:t>
            </a:r>
            <a:r>
              <a:rPr lang="en-US" dirty="0">
                <a:latin typeface="Trebuchet MS" panose="020B0603020202020204" pitchFamily="34" charset="0"/>
              </a:rPr>
              <a:t> SCOTUS unanimously ruled that Maryland could not tax the bank because it was an asset of the national government used to execute constitutional powers outlined in the </a:t>
            </a:r>
            <a:r>
              <a:rPr lang="en-US" i="1" dirty="0">
                <a:latin typeface="Trebuchet MS" panose="020B0603020202020204" pitchFamily="34" charset="0"/>
              </a:rPr>
              <a:t>necessary and proper clause</a:t>
            </a:r>
            <a:r>
              <a:rPr lang="en-US" dirty="0">
                <a:latin typeface="Trebuchet MS" panose="020B0603020202020204" pitchFamily="34" charset="0"/>
              </a:rPr>
              <a:t>. Because the Constitution grants the government the power to tax and declare war, Congress has an </a:t>
            </a:r>
            <a:r>
              <a:rPr lang="en-US" i="1" dirty="0">
                <a:latin typeface="Trebuchet MS" panose="020B0603020202020204" pitchFamily="34" charset="0"/>
              </a:rPr>
              <a:t>implied power</a:t>
            </a:r>
            <a:r>
              <a:rPr lang="en-US" dirty="0">
                <a:latin typeface="Trebuchet MS" panose="020B0603020202020204" pitchFamily="34" charset="0"/>
              </a:rPr>
              <a:t> to charter a bank.</a:t>
            </a:r>
          </a:p>
          <a:p>
            <a:r>
              <a:rPr lang="en-US" b="1" u="sng" dirty="0">
                <a:latin typeface="Trebuchet MS" panose="020B0603020202020204" pitchFamily="34" charset="0"/>
              </a:rPr>
              <a:t>Significance:</a:t>
            </a:r>
            <a:r>
              <a:rPr lang="en-US" dirty="0">
                <a:latin typeface="Trebuchet MS" panose="020B0603020202020204" pitchFamily="34" charset="0"/>
              </a:rPr>
              <a:t> The case allowed the national government to exercise implied powers that were supreme over state laws.</a:t>
            </a:r>
            <a:endParaRPr lang="en-US" b="1" u="sng" dirty="0">
              <a:latin typeface="Trebuchet MS" panose="020B0603020202020204" pitchFamily="34" charset="0"/>
            </a:endParaRPr>
          </a:p>
        </p:txBody>
      </p:sp>
    </p:spTree>
    <p:extLst>
      <p:ext uri="{BB962C8B-B14F-4D97-AF65-F5344CB8AC3E}">
        <p14:creationId xmlns:p14="http://schemas.microsoft.com/office/powerpoint/2010/main" val="580946513"/>
      </p:ext>
    </p:extLst>
  </p:cSld>
  <p:clrMapOvr>
    <a:masterClrMapping/>
  </p:clrMapOvr>
  <p:transition spd="med">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D317F-663B-AEC0-D9ED-2978DC6B13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FDA537-5A8E-220E-DB87-18AA46FD909C}"/>
              </a:ext>
            </a:extLst>
          </p:cNvPr>
          <p:cNvSpPr>
            <a:spLocks noGrp="1"/>
          </p:cNvSpPr>
          <p:nvPr>
            <p:ph type="title"/>
          </p:nvPr>
        </p:nvSpPr>
        <p:spPr/>
        <p:txBody>
          <a:bodyPr/>
          <a:lstStyle/>
          <a:p>
            <a:r>
              <a:rPr lang="en-US" i="1" dirty="0"/>
              <a:t>United States v. Lopez</a:t>
            </a:r>
          </a:p>
        </p:txBody>
      </p:sp>
      <p:sp>
        <p:nvSpPr>
          <p:cNvPr id="3" name="Content Placeholder 2">
            <a:extLst>
              <a:ext uri="{FF2B5EF4-FFF2-40B4-BE49-F238E27FC236}">
                <a16:creationId xmlns:a16="http://schemas.microsoft.com/office/drawing/2014/main" id="{768F6C32-0049-5E1A-07EE-A4481727A5AE}"/>
              </a:ext>
            </a:extLst>
          </p:cNvPr>
          <p:cNvSpPr>
            <a:spLocks noGrp="1"/>
          </p:cNvSpPr>
          <p:nvPr>
            <p:ph idx="1"/>
          </p:nvPr>
        </p:nvSpPr>
        <p:spPr/>
        <p:txBody>
          <a:bodyPr>
            <a:normAutofit/>
          </a:bodyPr>
          <a:lstStyle/>
          <a:p>
            <a:r>
              <a:rPr lang="en-US" b="1" u="sng" dirty="0">
                <a:latin typeface="Trebuchet MS" panose="020B0603020202020204" pitchFamily="34" charset="0"/>
              </a:rPr>
              <a:t>Facts of the case:</a:t>
            </a:r>
            <a:r>
              <a:rPr lang="en-US" dirty="0">
                <a:latin typeface="Trebuchet MS" panose="020B0603020202020204" pitchFamily="34" charset="0"/>
              </a:rPr>
              <a:t> Alfonzo Lopez, a high school senior in San Antonio, TX, carried a concealed weapon on campus. Federal agents charged Lopez for violating the Gun Free School Zones Act of 1990, which forbids firearm possession on school property.</a:t>
            </a:r>
          </a:p>
          <a:p>
            <a:r>
              <a:rPr lang="en-US" b="1" u="sng" dirty="0">
                <a:latin typeface="Trebuchet MS" panose="020B0603020202020204" pitchFamily="34" charset="0"/>
              </a:rPr>
              <a:t>Holding:</a:t>
            </a:r>
            <a:r>
              <a:rPr lang="en-US" dirty="0">
                <a:latin typeface="Trebuchet MS" panose="020B0603020202020204" pitchFamily="34" charset="0"/>
              </a:rPr>
              <a:t> SCOTUS ruled in favor of Lopez because in </a:t>
            </a:r>
            <a:r>
              <a:rPr lang="en-US" i="1" dirty="0">
                <a:latin typeface="Trebuchet MS" panose="020B0603020202020204" pitchFamily="34" charset="0"/>
              </a:rPr>
              <a:t>Jones &amp; Laughlin Steel</a:t>
            </a:r>
            <a:r>
              <a:rPr lang="en-US" dirty="0">
                <a:latin typeface="Trebuchet MS" panose="020B0603020202020204" pitchFamily="34" charset="0"/>
              </a:rPr>
              <a:t>, the Court already warned about the limitations of the Commerce Clause. The Gun Free School Zones Act was </a:t>
            </a:r>
            <a:r>
              <a:rPr lang="en-US" i="1" dirty="0">
                <a:latin typeface="Trebuchet MS" panose="020B0603020202020204" pitchFamily="34" charset="0"/>
              </a:rPr>
              <a:t>not</a:t>
            </a:r>
            <a:r>
              <a:rPr lang="en-US" dirty="0">
                <a:latin typeface="Trebuchet MS" panose="020B0603020202020204" pitchFamily="34" charset="0"/>
              </a:rPr>
              <a:t> related to interstate commerce. If the act were to be upheld, Congress could become tyrannical as they could regulate </a:t>
            </a:r>
            <a:r>
              <a:rPr lang="en-US" i="1" dirty="0">
                <a:latin typeface="Trebuchet MS" panose="020B0603020202020204" pitchFamily="34" charset="0"/>
              </a:rPr>
              <a:t>all activities that could lead to violent crime</a:t>
            </a:r>
            <a:r>
              <a:rPr lang="en-US" dirty="0">
                <a:latin typeface="Trebuchet MS" panose="020B0603020202020204" pitchFamily="34" charset="0"/>
              </a:rPr>
              <a:t>, regardless of their relation to interstate commerce.</a:t>
            </a:r>
            <a:endParaRPr lang="en-US" b="1" u="sng" dirty="0">
              <a:latin typeface="Trebuchet MS" panose="020B0603020202020204" pitchFamily="34" charset="0"/>
            </a:endParaRPr>
          </a:p>
        </p:txBody>
      </p:sp>
    </p:spTree>
    <p:extLst>
      <p:ext uri="{BB962C8B-B14F-4D97-AF65-F5344CB8AC3E}">
        <p14:creationId xmlns:p14="http://schemas.microsoft.com/office/powerpoint/2010/main" val="1023122959"/>
      </p:ext>
    </p:extLst>
  </p:cSld>
  <p:clrMapOvr>
    <a:masterClrMapping/>
  </p:clrMapOvr>
  <p:transition spd="med">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86663-471E-4286-89D2-D0253FDA39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878CDF-F752-F089-F511-652B59CAE7F6}"/>
              </a:ext>
            </a:extLst>
          </p:cNvPr>
          <p:cNvSpPr>
            <a:spLocks noGrp="1"/>
          </p:cNvSpPr>
          <p:nvPr>
            <p:ph type="title"/>
          </p:nvPr>
        </p:nvSpPr>
        <p:spPr/>
        <p:txBody>
          <a:bodyPr/>
          <a:lstStyle/>
          <a:p>
            <a:r>
              <a:rPr lang="en-US" i="1" dirty="0"/>
              <a:t>United States v. Lopez</a:t>
            </a:r>
          </a:p>
        </p:txBody>
      </p:sp>
      <p:sp>
        <p:nvSpPr>
          <p:cNvPr id="3" name="Content Placeholder 2">
            <a:extLst>
              <a:ext uri="{FF2B5EF4-FFF2-40B4-BE49-F238E27FC236}">
                <a16:creationId xmlns:a16="http://schemas.microsoft.com/office/drawing/2014/main" id="{AD5E9A44-DF5C-9635-212D-AEFC5F7C4685}"/>
              </a:ext>
            </a:extLst>
          </p:cNvPr>
          <p:cNvSpPr>
            <a:spLocks noGrp="1"/>
          </p:cNvSpPr>
          <p:nvPr>
            <p:ph idx="1"/>
          </p:nvPr>
        </p:nvSpPr>
        <p:spPr>
          <a:xfrm>
            <a:off x="827484" y="1539689"/>
            <a:ext cx="5116116" cy="3146611"/>
          </a:xfrm>
        </p:spPr>
        <p:txBody>
          <a:bodyPr>
            <a:normAutofit/>
          </a:bodyPr>
          <a:lstStyle/>
          <a:p>
            <a:r>
              <a:rPr lang="en-US" b="1" u="sng" dirty="0">
                <a:latin typeface="Trebuchet MS" panose="020B0603020202020204" pitchFamily="34" charset="0"/>
              </a:rPr>
              <a:t>Dissenting opinions:</a:t>
            </a:r>
            <a:r>
              <a:rPr lang="en-US" dirty="0">
                <a:latin typeface="Trebuchet MS" panose="020B0603020202020204" pitchFamily="34" charset="0"/>
              </a:rPr>
              <a:t> The presence of guns in schools has been statistically proven to undermine education. Because global competition has increased the importance of education, the presence of guns has a chain effect on commerce in the form of decreased education and therefore worker productivity.</a:t>
            </a:r>
          </a:p>
          <a:p>
            <a:r>
              <a:rPr lang="en-US" b="1" u="sng" dirty="0">
                <a:latin typeface="Trebuchet MS" panose="020B0603020202020204" pitchFamily="34" charset="0"/>
              </a:rPr>
              <a:t>Significance:</a:t>
            </a:r>
            <a:r>
              <a:rPr lang="en-US" dirty="0">
                <a:latin typeface="Trebuchet MS" panose="020B0603020202020204" pitchFamily="34" charset="0"/>
              </a:rPr>
              <a:t> This case limits Congressional power under the Commerce Clause such that the clause cannot be extended to non-economic and local activities solely due to indirect effects on the national economy. It also reinforced the Tenth Amendment, which limits the power of the federal government.</a:t>
            </a:r>
            <a:endParaRPr lang="en-US" b="1" u="sng" dirty="0">
              <a:latin typeface="Trebuchet MS" panose="020B0603020202020204" pitchFamily="34" charset="0"/>
            </a:endParaRPr>
          </a:p>
        </p:txBody>
      </p:sp>
      <p:pic>
        <p:nvPicPr>
          <p:cNvPr id="5" name="Picture 4" descr="OBJECTION&#10;&#10;AI-generated content may be incorrect.">
            <a:extLst>
              <a:ext uri="{FF2B5EF4-FFF2-40B4-BE49-F238E27FC236}">
                <a16:creationId xmlns:a16="http://schemas.microsoft.com/office/drawing/2014/main" id="{374C2FA1-FE99-CB69-6ABF-DD308F335517}"/>
              </a:ext>
            </a:extLst>
          </p:cNvPr>
          <p:cNvPicPr>
            <a:picLocks noChangeAspect="1"/>
          </p:cNvPicPr>
          <p:nvPr/>
        </p:nvPicPr>
        <p:blipFill>
          <a:blip r:embed="rId2"/>
          <a:stretch>
            <a:fillRect/>
          </a:stretch>
        </p:blipFill>
        <p:spPr>
          <a:xfrm>
            <a:off x="6227702" y="1047750"/>
            <a:ext cx="2619375" cy="1962150"/>
          </a:xfrm>
          <a:prstGeom prst="rect">
            <a:avLst/>
          </a:prstGeom>
        </p:spPr>
      </p:pic>
    </p:spTree>
    <p:extLst>
      <p:ext uri="{BB962C8B-B14F-4D97-AF65-F5344CB8AC3E}">
        <p14:creationId xmlns:p14="http://schemas.microsoft.com/office/powerpoint/2010/main" val="3215706037"/>
      </p:ext>
    </p:extLst>
  </p:cSld>
  <p:clrMapOvr>
    <a:masterClrMapping/>
  </p:clrMapOvr>
  <p:transition spd="med">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743F4-1021-FE83-1439-6C666B8C8C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72F62E-BEC7-403E-137E-7EF2C6222260}"/>
              </a:ext>
            </a:extLst>
          </p:cNvPr>
          <p:cNvSpPr>
            <a:spLocks noGrp="1"/>
          </p:cNvSpPr>
          <p:nvPr>
            <p:ph type="title"/>
          </p:nvPr>
        </p:nvSpPr>
        <p:spPr/>
        <p:txBody>
          <a:bodyPr/>
          <a:lstStyle/>
          <a:p>
            <a:pPr algn="l"/>
            <a:r>
              <a:rPr lang="en-US" dirty="0"/>
              <a:t>MCQ Practice</a:t>
            </a:r>
          </a:p>
        </p:txBody>
      </p:sp>
      <p:sp>
        <p:nvSpPr>
          <p:cNvPr id="3" name="Content Placeholder 2">
            <a:extLst>
              <a:ext uri="{FF2B5EF4-FFF2-40B4-BE49-F238E27FC236}">
                <a16:creationId xmlns:a16="http://schemas.microsoft.com/office/drawing/2014/main" id="{1F4BCEC2-064B-1581-559B-4E6028CE72E7}"/>
              </a:ext>
            </a:extLst>
          </p:cNvPr>
          <p:cNvSpPr>
            <a:spLocks noGrp="1"/>
          </p:cNvSpPr>
          <p:nvPr>
            <p:ph idx="1"/>
          </p:nvPr>
        </p:nvSpPr>
        <p:spPr/>
        <p:txBody>
          <a:bodyPr>
            <a:normAutofit/>
          </a:bodyPr>
          <a:lstStyle/>
          <a:p>
            <a:pPr marL="0" indent="0">
              <a:buNone/>
            </a:pPr>
            <a:r>
              <a:rPr lang="en-US" sz="1600" dirty="0">
                <a:latin typeface="Times New Roman" panose="02020603050405020304" pitchFamily="18" charset="0"/>
                <a:cs typeface="Times New Roman" panose="02020603050405020304" pitchFamily="18" charset="0"/>
              </a:rPr>
              <a:t>The case </a:t>
            </a:r>
            <a:r>
              <a:rPr lang="en-US" sz="1600" i="1" dirty="0">
                <a:latin typeface="Times New Roman" panose="02020603050405020304" pitchFamily="18" charset="0"/>
                <a:cs typeface="Times New Roman" panose="02020603050405020304" pitchFamily="18" charset="0"/>
              </a:rPr>
              <a:t>United States v. Lopez</a:t>
            </a:r>
            <a:r>
              <a:rPr lang="en-US" sz="1600" dirty="0">
                <a:latin typeface="Times New Roman" panose="02020603050405020304" pitchFamily="18" charset="0"/>
                <a:cs typeface="Times New Roman" panose="02020603050405020304" pitchFamily="18" charset="0"/>
              </a:rPr>
              <a:t> (1995) struck down the Gun-Free School Zones Act because</a:t>
            </a:r>
          </a:p>
          <a:p>
            <a:pPr marL="342900" indent="-342900">
              <a:buAutoNum type="alphaUcParenBoth"/>
            </a:pPr>
            <a:r>
              <a:rPr lang="en-US" sz="1600" dirty="0">
                <a:latin typeface="Times New Roman" panose="02020603050405020304" pitchFamily="18" charset="0"/>
                <a:cs typeface="Times New Roman" panose="02020603050405020304" pitchFamily="18" charset="0"/>
              </a:rPr>
              <a:t>It violated Fourth Amendment protections against unwarranted searches.</a:t>
            </a:r>
          </a:p>
          <a:p>
            <a:pPr marL="342900" indent="-342900">
              <a:buAutoNum type="alphaUcParenBoth"/>
            </a:pPr>
            <a:r>
              <a:rPr lang="en-US" sz="1600" dirty="0">
                <a:latin typeface="Times New Roman" panose="02020603050405020304" pitchFamily="18" charset="0"/>
                <a:cs typeface="Times New Roman" panose="02020603050405020304" pitchFamily="18" charset="0"/>
              </a:rPr>
              <a:t>Congress exceeded its authority in the use of the commerce clause.</a:t>
            </a:r>
          </a:p>
          <a:p>
            <a:pPr marL="342900" indent="-342900">
              <a:buAutoNum type="alphaUcParenBoth"/>
            </a:pPr>
            <a:r>
              <a:rPr lang="en-US" sz="1600" dirty="0">
                <a:latin typeface="Times New Roman" panose="02020603050405020304" pitchFamily="18" charset="0"/>
                <a:cs typeface="Times New Roman" panose="02020603050405020304" pitchFamily="18" charset="0"/>
              </a:rPr>
              <a:t>The Second Amendment is a right incorporated to the states.</a:t>
            </a:r>
          </a:p>
          <a:p>
            <a:pPr marL="342900" indent="-342900">
              <a:buAutoNum type="alphaUcParenBoth"/>
            </a:pPr>
            <a:r>
              <a:rPr lang="en-US" sz="1600" dirty="0">
                <a:latin typeface="Times New Roman" panose="02020603050405020304" pitchFamily="18" charset="0"/>
                <a:cs typeface="Times New Roman" panose="02020603050405020304" pitchFamily="18" charset="0"/>
              </a:rPr>
              <a:t>Students retain their First Amendment rights while attending schools.</a:t>
            </a:r>
          </a:p>
          <a:p>
            <a:pPr marL="0" indent="0">
              <a:buNone/>
            </a:pPr>
            <a:endParaRPr lang="en-US" sz="1600" dirty="0">
              <a:latin typeface="Times New Roman" panose="02020603050405020304" pitchFamily="18" charset="0"/>
              <a:cs typeface="Times New Roman" panose="02020603050405020304" pitchFamily="18" charset="0"/>
            </a:endParaRPr>
          </a:p>
        </p:txBody>
      </p:sp>
      <p:sp>
        <p:nvSpPr>
          <p:cNvPr id="4" name="Octagon 3">
            <a:extLst>
              <a:ext uri="{FF2B5EF4-FFF2-40B4-BE49-F238E27FC236}">
                <a16:creationId xmlns:a16="http://schemas.microsoft.com/office/drawing/2014/main" id="{381713F9-2E56-D608-25EC-25EEDDE2BE29}"/>
              </a:ext>
            </a:extLst>
          </p:cNvPr>
          <p:cNvSpPr/>
          <p:nvPr/>
        </p:nvSpPr>
        <p:spPr>
          <a:xfrm>
            <a:off x="7086600" y="2571750"/>
            <a:ext cx="1447800" cy="1447800"/>
          </a:xfrm>
          <a:prstGeom prst="octagon">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STOP</a:t>
            </a:r>
          </a:p>
        </p:txBody>
      </p:sp>
      <p:sp>
        <p:nvSpPr>
          <p:cNvPr id="7" name="Rectangle 6">
            <a:extLst>
              <a:ext uri="{FF2B5EF4-FFF2-40B4-BE49-F238E27FC236}">
                <a16:creationId xmlns:a16="http://schemas.microsoft.com/office/drawing/2014/main" id="{86EC0540-341E-C4B5-0950-9687CA485E01}"/>
              </a:ext>
            </a:extLst>
          </p:cNvPr>
          <p:cNvSpPr/>
          <p:nvPr/>
        </p:nvSpPr>
        <p:spPr>
          <a:xfrm>
            <a:off x="838943" y="2419350"/>
            <a:ext cx="6078812" cy="44935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07291107"/>
      </p:ext>
    </p:extLst>
  </p:cSld>
  <p:clrMapOvr>
    <a:masterClrMapping/>
  </p:clrMapOvr>
  <p:transition spd="med">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TM02836342[[fn=Ion]]</Template>
  <TotalTime>239</TotalTime>
  <Words>2682</Words>
  <Application>Microsoft Office PowerPoint</Application>
  <PresentationFormat>On-screen Show (16:9)</PresentationFormat>
  <Paragraphs>224</Paragraphs>
  <Slides>34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Times New Roman</vt:lpstr>
      <vt:lpstr>Arial</vt:lpstr>
      <vt:lpstr>Trebuchet MS</vt:lpstr>
      <vt:lpstr>Century Gothic</vt:lpstr>
      <vt:lpstr>Wingdings 3</vt:lpstr>
      <vt:lpstr>Ion</vt:lpstr>
      <vt:lpstr>Unit 1: Foundations of American Democracy</vt:lpstr>
      <vt:lpstr>Key Vocabulary</vt:lpstr>
      <vt:lpstr>Key Vocabulary (Continued)</vt:lpstr>
      <vt:lpstr>Key Vocabulary (Continued)</vt:lpstr>
      <vt:lpstr>Key Vocabulary (Continued)</vt:lpstr>
      <vt:lpstr>Key Documents</vt:lpstr>
      <vt:lpstr>Disclaimer</vt:lpstr>
      <vt:lpstr>Declaration of Independence</vt:lpstr>
      <vt:lpstr>Key Takeaways</vt:lpstr>
      <vt:lpstr>MCQ Practice</vt:lpstr>
      <vt:lpstr>Articles of Confederation</vt:lpstr>
      <vt:lpstr>Articles of Confederation</vt:lpstr>
      <vt:lpstr>Key Takeaways</vt:lpstr>
      <vt:lpstr>The Gettysburg Address</vt:lpstr>
      <vt:lpstr>The Gettysburg Address</vt:lpstr>
      <vt:lpstr>Key Takeaways</vt:lpstr>
      <vt:lpstr>The Federalists vs. The Anti-Federalists</vt:lpstr>
      <vt:lpstr>Federalist No. 10</vt:lpstr>
      <vt:lpstr>Federalist No. 10</vt:lpstr>
      <vt:lpstr>Federalist No. 51</vt:lpstr>
      <vt:lpstr>Brutus No. 1</vt:lpstr>
      <vt:lpstr>The Constitution</vt:lpstr>
      <vt:lpstr>The Constitution</vt:lpstr>
      <vt:lpstr>The Constitution</vt:lpstr>
      <vt:lpstr>Constitutional Amendments</vt:lpstr>
      <vt:lpstr>Constitutional Amendments</vt:lpstr>
      <vt:lpstr>MCQ Practice</vt:lpstr>
      <vt:lpstr>Federalist No. 39</vt:lpstr>
      <vt:lpstr>Unit 1 SCOTUS cases</vt:lpstr>
      <vt:lpstr>Marbury v. Madison</vt:lpstr>
      <vt:lpstr>McCulloch v. Maryland</vt:lpstr>
      <vt:lpstr>United States v. Lopez</vt:lpstr>
      <vt:lpstr>United States v. Lopez</vt:lpstr>
      <vt:lpstr>MCQ Practice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 United States Government and Politics</dc:title>
  <dc:creator>Luke Jiang</dc:creator>
  <cp:lastModifiedBy>Luke Jiang</cp:lastModifiedBy>
  <cp:revision>26</cp:revision>
  <dcterms:created xsi:type="dcterms:W3CDTF">2026-09-05T22:31:09Z</dcterms:created>
  <dcterms:modified xsi:type="dcterms:W3CDTF">2026-09-14T00:30:51Z</dcterms:modified>
</cp:coreProperties>
</file>